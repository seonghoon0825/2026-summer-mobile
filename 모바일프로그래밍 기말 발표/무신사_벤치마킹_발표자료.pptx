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B6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0" d="100"/>
          <a:sy n="110" d="100"/>
        </p:scale>
        <p:origin x="78"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073604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학번 20210514 정성훈입니다. 저는 이번 기말프로젝트로 무신사를 벤치마킹한 멀티모듈 커머스 앱을 만들려고 합니다. 오늘은 어떤 앱을, 왜, 어떻게 만들지 5분 안에 말씀드리겠습니다.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저는 이번 기말프로젝트로 무신사를 벤치마킹한 멀티모듈 커머스 앱을 만들려고 합니다. 무신사를 고른 이유는 세 가지입니다. 패션 이미지 중심이라 시연에 유리하고, 기능 경계가 뚜렷해 모듈로 나누기 좋으며, 결제나 물류의 과도한 복잡함 없이 핵심 흐름을 완결할 수 있습니다. 목표는 두 가지입니다. 무신사의 핵심 쇼핑 기능을 직접 구현하는 것과, 앱을 멀티모듈로 설계해 실무 아키텍처를 경험하는 것입니다. 이 두 가지로 과제 요구사항인 벤치마킹과 모듈 10개 이상을 모두 충족합니다.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앱은 총 13개 모듈로 설계했습니다. 아래 core 계층은 데이터 모델·공통 유틸·디자인 시스템·데이터 계층을 담당하고, 위 feature 계층은 로그인부터 마이페이지까지 여덟 화면을 담당합니다. 핵심 원칙은 단방향 의존성입니다. feature끼리는 서로 참조하지 않고 화면 이동은 app이 관리하며 순환 참조가 없습니다. 덕분에 관심사가 분리되어 유지보수가 쉽고, 변경된 모듈만 다시 빌드되어 속도가 빠르며, core 모듈을 여러 화면이 재사용합니다.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원본을 그대로 복제하지 않고 개선 기능 6가지를 더했습니다. 찜 상품 세일 알림, 최근 본 상품 기반 추천, 쿠폰·적립 실시간 계산, 상품 비교, 배송 타임라인, 다크모드입니다. 기술 스택은 Kotlin과 Compose 기반에 MVVM, Hilt, Room, DataStore를 사용합니다. 가장 큰 난관은 상태가 여러 화면에 걸쳐 공유되는 것인데, 장바구니 저장소를 단일 데이터 소스로 두어 해결했습니다. 이상 발표를 마치겠습니다.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정리하면 무신사를 벤치마킹해 13개 모듈의 멀티모듈 커머스 앱을 만들고 제 개선 기능을 더하는 것이 이번 프로젝트입니다. 이상 발표를 마치겠습니다.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8595360" y="-1463040"/>
            <a:ext cx="5120640" cy="5120640"/>
          </a:xfrm>
          <a:prstGeom prst="ellipse">
            <a:avLst/>
          </a:prstGeom>
          <a:solidFill>
            <a:srgbClr val="26375C"/>
          </a:solidFill>
          <a:ln/>
        </p:spPr>
        <p:txBody>
          <a:bodyPr/>
          <a:lstStyle/>
          <a:p>
            <a:endParaRPr lang="ko-KR" altLang="en-US"/>
          </a:p>
        </p:txBody>
      </p:sp>
      <p:sp>
        <p:nvSpPr>
          <p:cNvPr id="3" name="Shape 1"/>
          <p:cNvSpPr/>
          <p:nvPr/>
        </p:nvSpPr>
        <p:spPr>
          <a:xfrm>
            <a:off x="10241280" y="3474720"/>
            <a:ext cx="3108960" cy="3108960"/>
          </a:xfrm>
          <a:prstGeom prst="ellipse">
            <a:avLst/>
          </a:prstGeom>
          <a:solidFill>
            <a:srgbClr val="FF6B6B">
              <a:alpha val="45000"/>
            </a:srgbClr>
          </a:solidFill>
          <a:ln/>
        </p:spPr>
        <p:txBody>
          <a:bodyPr/>
          <a:lstStyle/>
          <a:p>
            <a:endParaRPr lang="ko-KR" altLang="en-US"/>
          </a:p>
        </p:txBody>
      </p:sp>
      <p:sp>
        <p:nvSpPr>
          <p:cNvPr id="4" name="Shape 2"/>
          <p:cNvSpPr/>
          <p:nvPr/>
        </p:nvSpPr>
        <p:spPr>
          <a:xfrm>
            <a:off x="822960" y="1234440"/>
            <a:ext cx="914400" cy="914400"/>
          </a:xfrm>
          <a:prstGeom prst="ellipse">
            <a:avLst/>
          </a:prstGeom>
          <a:solidFill>
            <a:srgbClr val="FF6B6B"/>
          </a:solidFill>
          <a:ln/>
          <a:effectLst>
            <a:outerShdw blurRad="88900" dist="38100" dir="5400000" algn="bl" rotWithShape="0">
              <a:srgbClr val="000000">
                <a:alpha val="12000"/>
              </a:srgbClr>
            </a:outerShdw>
          </a:effectLst>
        </p:spPr>
        <p:txBody>
          <a:bodyPr/>
          <a:lstStyle/>
          <a:p>
            <a:endParaRPr lang="ko-KR" altLang="en-US"/>
          </a:p>
        </p:txBody>
      </p:sp>
      <p:pic>
        <p:nvPicPr>
          <p:cNvPr id="5" name="Image 0" descr="preencoded.png"/>
          <p:cNvPicPr>
            <a:picLocks noChangeAspect="1"/>
          </p:cNvPicPr>
          <p:nvPr/>
        </p:nvPicPr>
        <p:blipFill>
          <a:blip r:embed="rId3"/>
          <a:stretch>
            <a:fillRect/>
          </a:stretch>
        </p:blipFill>
        <p:spPr>
          <a:xfrm>
            <a:off x="1060704" y="1472184"/>
            <a:ext cx="438912" cy="438912"/>
          </a:xfrm>
          <a:prstGeom prst="rect">
            <a:avLst/>
          </a:prstGeom>
        </p:spPr>
      </p:pic>
      <p:sp>
        <p:nvSpPr>
          <p:cNvPr id="6" name="Text 3"/>
          <p:cNvSpPr/>
          <p:nvPr/>
        </p:nvSpPr>
        <p:spPr>
          <a:xfrm>
            <a:off x="822960" y="2423160"/>
            <a:ext cx="8229600" cy="365760"/>
          </a:xfrm>
          <a:prstGeom prst="rect">
            <a:avLst/>
          </a:prstGeom>
          <a:noFill/>
          <a:ln/>
        </p:spPr>
        <p:txBody>
          <a:bodyPr wrap="square" lIns="0" tIns="0" rIns="0" bIns="0" rtlCol="0" anchor="ctr"/>
          <a:lstStyle/>
          <a:p>
            <a:pPr marL="0" indent="0">
              <a:buNone/>
            </a:pPr>
            <a:r>
              <a:rPr lang="en-US" sz="1500" b="1" kern="0" spc="200" dirty="0">
                <a:solidFill>
                  <a:srgbClr val="CFE0FF"/>
                </a:solidFill>
                <a:latin typeface="Calibri" pitchFamily="34" charset="0"/>
                <a:ea typeface="Calibri" pitchFamily="34" charset="-122"/>
                <a:cs typeface="Calibri" pitchFamily="34" charset="-120"/>
              </a:rPr>
              <a:t>기말프로젝트 기획 발표</a:t>
            </a:r>
            <a:endParaRPr lang="en-US" sz="1500" dirty="0"/>
          </a:p>
        </p:txBody>
      </p:sp>
      <p:sp>
        <p:nvSpPr>
          <p:cNvPr id="7" name="Text 4"/>
          <p:cNvSpPr/>
          <p:nvPr/>
        </p:nvSpPr>
        <p:spPr>
          <a:xfrm>
            <a:off x="822960" y="2834640"/>
            <a:ext cx="10058400" cy="914400"/>
          </a:xfrm>
          <a:prstGeom prst="rect">
            <a:avLst/>
          </a:prstGeom>
          <a:noFill/>
          <a:ln/>
        </p:spPr>
        <p:txBody>
          <a:bodyPr wrap="square" lIns="0" tIns="0" rIns="0" bIns="0" rtlCol="0" anchor="ctr"/>
          <a:lstStyle/>
          <a:p>
            <a:pPr marL="0" indent="0">
              <a:buNone/>
            </a:pPr>
            <a:r>
              <a:rPr lang="en-US" sz="5200" b="1" dirty="0">
                <a:solidFill>
                  <a:srgbClr val="FFFFFF"/>
                </a:solidFill>
                <a:latin typeface="Bookman Old Style" pitchFamily="34" charset="0"/>
                <a:ea typeface="Bookman Old Style" pitchFamily="34" charset="-122"/>
                <a:cs typeface="Bookman Old Style" pitchFamily="34" charset="-120"/>
              </a:rPr>
              <a:t>무신사 벤치마킹</a:t>
            </a:r>
            <a:endParaRPr lang="en-US" sz="5200" dirty="0"/>
          </a:p>
        </p:txBody>
      </p:sp>
      <p:sp>
        <p:nvSpPr>
          <p:cNvPr id="8" name="Text 5"/>
          <p:cNvSpPr/>
          <p:nvPr/>
        </p:nvSpPr>
        <p:spPr>
          <a:xfrm>
            <a:off x="822960" y="3703320"/>
            <a:ext cx="10058400" cy="868680"/>
          </a:xfrm>
          <a:prstGeom prst="rect">
            <a:avLst/>
          </a:prstGeom>
          <a:noFill/>
          <a:ln/>
        </p:spPr>
        <p:txBody>
          <a:bodyPr wrap="square" lIns="0" tIns="0" rIns="0" bIns="0" rtlCol="0" anchor="ctr"/>
          <a:lstStyle/>
          <a:p>
            <a:pPr marL="0" indent="0">
              <a:buNone/>
            </a:pPr>
            <a:r>
              <a:rPr lang="en-US" sz="5200" b="1" dirty="0" err="1">
                <a:solidFill>
                  <a:srgbClr val="FF6B6B"/>
                </a:solidFill>
                <a:latin typeface="Bookman Old Style" pitchFamily="34" charset="0"/>
                <a:ea typeface="Bookman Old Style" pitchFamily="34" charset="-122"/>
                <a:cs typeface="Bookman Old Style" pitchFamily="34" charset="-120"/>
              </a:rPr>
              <a:t>커머스</a:t>
            </a:r>
            <a:r>
              <a:rPr lang="en-US" sz="5200" b="1" dirty="0">
                <a:solidFill>
                  <a:srgbClr val="FF6B6B"/>
                </a:solidFill>
                <a:latin typeface="Bookman Old Style" pitchFamily="34" charset="0"/>
                <a:ea typeface="Bookman Old Style" pitchFamily="34" charset="-122"/>
                <a:cs typeface="Bookman Old Style" pitchFamily="34" charset="-120"/>
              </a:rPr>
              <a:t> 앱</a:t>
            </a:r>
            <a:endParaRPr lang="en-US" sz="5200" dirty="0">
              <a:solidFill>
                <a:srgbClr val="FF6B6B"/>
              </a:solidFill>
            </a:endParaRPr>
          </a:p>
        </p:txBody>
      </p:sp>
      <p:sp>
        <p:nvSpPr>
          <p:cNvPr id="9" name="Shape 6"/>
          <p:cNvSpPr/>
          <p:nvPr/>
        </p:nvSpPr>
        <p:spPr>
          <a:xfrm>
            <a:off x="868680" y="4892040"/>
            <a:ext cx="2011680" cy="0"/>
          </a:xfrm>
          <a:prstGeom prst="line">
            <a:avLst/>
          </a:prstGeom>
          <a:noFill/>
          <a:ln w="31750">
            <a:solidFill>
              <a:srgbClr val="FF6B6B"/>
            </a:solidFill>
            <a:prstDash val="solid"/>
          </a:ln>
        </p:spPr>
        <p:txBody>
          <a:bodyPr/>
          <a:lstStyle/>
          <a:p>
            <a:endParaRPr lang="ko-KR" altLang="en-US"/>
          </a:p>
        </p:txBody>
      </p:sp>
      <p:sp>
        <p:nvSpPr>
          <p:cNvPr id="10" name="Text 7"/>
          <p:cNvSpPr/>
          <p:nvPr/>
        </p:nvSpPr>
        <p:spPr>
          <a:xfrm>
            <a:off x="822960" y="5074920"/>
            <a:ext cx="9144000" cy="457200"/>
          </a:xfrm>
          <a:prstGeom prst="rect">
            <a:avLst/>
          </a:prstGeom>
          <a:noFill/>
          <a:ln/>
        </p:spPr>
        <p:txBody>
          <a:bodyPr wrap="square" lIns="0" tIns="0" rIns="0" bIns="0" rtlCol="0" anchor="ctr"/>
          <a:lstStyle/>
          <a:p>
            <a:pPr marL="0" indent="0">
              <a:buNone/>
            </a:pPr>
            <a:r>
              <a:rPr lang="en-US" sz="1600" dirty="0">
                <a:solidFill>
                  <a:srgbClr val="CFE0FF"/>
                </a:solidFill>
                <a:latin typeface="Calibri" pitchFamily="34" charset="0"/>
                <a:ea typeface="Calibri" pitchFamily="34" charset="-122"/>
                <a:cs typeface="Calibri" pitchFamily="34" charset="-120"/>
              </a:rPr>
              <a:t>모바일프로그래밍   </a:t>
            </a:r>
            <a:r>
              <a:rPr lang="en-US" sz="1600" b="1" dirty="0">
                <a:solidFill>
                  <a:srgbClr val="FFFFFF"/>
                </a:solidFill>
                <a:latin typeface="Calibri" pitchFamily="34" charset="0"/>
                <a:ea typeface="Calibri" pitchFamily="34" charset="-122"/>
                <a:cs typeface="Calibri" pitchFamily="34" charset="-120"/>
              </a:rPr>
              <a:t>|   20210514  정성훈</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marL="0" indent="0">
              <a:buNone/>
            </a:pPr>
            <a:r>
              <a:rPr lang="en-US" sz="1200" b="1" kern="0" spc="300" dirty="0">
                <a:solidFill>
                  <a:srgbClr val="FF6B6B"/>
                </a:solidFill>
                <a:latin typeface="Calibri" pitchFamily="34" charset="0"/>
                <a:ea typeface="Calibri" pitchFamily="34" charset="-122"/>
                <a:cs typeface="Calibri" pitchFamily="34" charset="-120"/>
              </a:rPr>
              <a:t>01  BENCHMARK &amp; GOAL</a:t>
            </a:r>
            <a:endParaRPr lang="en-US" sz="1200" dirty="0"/>
          </a:p>
        </p:txBody>
      </p:sp>
      <p:sp>
        <p:nvSpPr>
          <p:cNvPr id="3" name="Text 1"/>
          <p:cNvSpPr/>
          <p:nvPr/>
        </p:nvSpPr>
        <p:spPr>
          <a:xfrm>
            <a:off x="640080" y="822960"/>
            <a:ext cx="10972800" cy="777240"/>
          </a:xfrm>
          <a:prstGeom prst="rect">
            <a:avLst/>
          </a:prstGeom>
          <a:noFill/>
          <a:ln/>
        </p:spPr>
        <p:txBody>
          <a:bodyPr wrap="square" lIns="0" tIns="0" rIns="0" bIns="0" rtlCol="0" anchor="ctr"/>
          <a:lstStyle/>
          <a:p>
            <a:pPr marL="0" indent="0">
              <a:buNone/>
            </a:pPr>
            <a:r>
              <a:rPr lang="en-US" sz="3000" b="1" dirty="0" err="1">
                <a:solidFill>
                  <a:srgbClr val="1E293B"/>
                </a:solidFill>
                <a:latin typeface="Bookman Old Style" pitchFamily="34" charset="0"/>
                <a:ea typeface="Bookman Old Style" pitchFamily="34" charset="-122"/>
                <a:cs typeface="Bookman Old Style" pitchFamily="34" charset="-120"/>
              </a:rPr>
              <a:t>무신사를</a:t>
            </a:r>
            <a:r>
              <a:rPr lang="en-US" sz="3000" b="1" dirty="0">
                <a:solidFill>
                  <a:srgbClr val="1E293B"/>
                </a:solidFill>
                <a:latin typeface="Bookman Old Style" pitchFamily="34" charset="0"/>
                <a:ea typeface="Bookman Old Style" pitchFamily="34" charset="-122"/>
                <a:cs typeface="Bookman Old Style" pitchFamily="34" charset="-120"/>
              </a:rPr>
              <a:t> </a:t>
            </a:r>
            <a:r>
              <a:rPr lang="en-US" sz="3000" b="1" dirty="0" err="1">
                <a:solidFill>
                  <a:srgbClr val="1E293B"/>
                </a:solidFill>
                <a:latin typeface="Bookman Old Style" pitchFamily="34" charset="0"/>
                <a:ea typeface="Bookman Old Style" pitchFamily="34" charset="-122"/>
                <a:cs typeface="Bookman Old Style" pitchFamily="34" charset="-120"/>
              </a:rPr>
              <a:t>벤치마킹한</a:t>
            </a:r>
            <a:r>
              <a:rPr lang="en-US" sz="3000" b="1" dirty="0">
                <a:solidFill>
                  <a:srgbClr val="1E293B"/>
                </a:solidFill>
                <a:latin typeface="Bookman Old Style" pitchFamily="34" charset="0"/>
                <a:ea typeface="Bookman Old Style" pitchFamily="34" charset="-122"/>
                <a:cs typeface="Bookman Old Style" pitchFamily="34" charset="-120"/>
              </a:rPr>
              <a:t> </a:t>
            </a:r>
            <a:r>
              <a:rPr lang="en-US" sz="3000" b="1" dirty="0" err="1">
                <a:solidFill>
                  <a:srgbClr val="1E293B"/>
                </a:solidFill>
                <a:latin typeface="Bookman Old Style" pitchFamily="34" charset="0"/>
                <a:ea typeface="Bookman Old Style" pitchFamily="34" charset="-122"/>
                <a:cs typeface="Bookman Old Style" pitchFamily="34" charset="-120"/>
              </a:rPr>
              <a:t>커머스</a:t>
            </a:r>
            <a:r>
              <a:rPr lang="en-US" sz="3000" b="1" dirty="0">
                <a:solidFill>
                  <a:srgbClr val="1E293B"/>
                </a:solidFill>
                <a:latin typeface="Bookman Old Style" pitchFamily="34" charset="0"/>
                <a:ea typeface="Bookman Old Style" pitchFamily="34" charset="-122"/>
                <a:cs typeface="Bookman Old Style" pitchFamily="34" charset="-120"/>
              </a:rPr>
              <a:t> 앱</a:t>
            </a:r>
            <a:endParaRPr lang="en-US" sz="3000" dirty="0"/>
          </a:p>
        </p:txBody>
      </p:sp>
      <p:sp>
        <p:nvSpPr>
          <p:cNvPr id="4" name="Shape 2"/>
          <p:cNvSpPr/>
          <p:nvPr/>
        </p:nvSpPr>
        <p:spPr>
          <a:xfrm>
            <a:off x="640080" y="1783080"/>
            <a:ext cx="5806440" cy="4480560"/>
          </a:xfrm>
          <a:prstGeom prst="roundRect">
            <a:avLst>
              <a:gd name="adj" fmla="val 1837"/>
            </a:avLst>
          </a:prstGeom>
          <a:solidFill>
            <a:srgbClr val="FFFFFF"/>
          </a:solidFill>
          <a:ln/>
          <a:effectLst>
            <a:outerShdw blurRad="88900" dist="38100" dir="5400000" algn="bl" rotWithShape="0">
              <a:srgbClr val="000000">
                <a:alpha val="12000"/>
              </a:srgbClr>
            </a:outerShdw>
          </a:effectLst>
        </p:spPr>
        <p:txBody>
          <a:bodyPr/>
          <a:lstStyle/>
          <a:p>
            <a:endParaRPr lang="ko-KR" altLang="en-US"/>
          </a:p>
        </p:txBody>
      </p:sp>
      <p:sp>
        <p:nvSpPr>
          <p:cNvPr id="5" name="Text 3"/>
          <p:cNvSpPr/>
          <p:nvPr/>
        </p:nvSpPr>
        <p:spPr>
          <a:xfrm>
            <a:off x="914400" y="2011680"/>
            <a:ext cx="5212080" cy="457200"/>
          </a:xfrm>
          <a:prstGeom prst="rect">
            <a:avLst/>
          </a:prstGeom>
          <a:noFill/>
          <a:ln/>
        </p:spPr>
        <p:txBody>
          <a:bodyPr wrap="square" lIns="0" tIns="0" rIns="0" bIns="0" rtlCol="0" anchor="ctr"/>
          <a:lstStyle/>
          <a:p>
            <a:pPr marL="0" indent="0">
              <a:buNone/>
            </a:pPr>
            <a:r>
              <a:rPr lang="en-US" sz="1700" b="1" dirty="0">
                <a:solidFill>
                  <a:srgbClr val="1B2A4A"/>
                </a:solidFill>
                <a:latin typeface="Calibri" pitchFamily="34" charset="0"/>
                <a:ea typeface="Calibri" pitchFamily="34" charset="-122"/>
                <a:cs typeface="Calibri" pitchFamily="34" charset="-120"/>
              </a:rPr>
              <a:t>왜 무신사인가</a:t>
            </a:r>
            <a:endParaRPr lang="en-US" sz="1700" dirty="0"/>
          </a:p>
        </p:txBody>
      </p:sp>
      <p:sp>
        <p:nvSpPr>
          <p:cNvPr id="6" name="Shape 4"/>
          <p:cNvSpPr/>
          <p:nvPr/>
        </p:nvSpPr>
        <p:spPr>
          <a:xfrm>
            <a:off x="914400" y="2670048"/>
            <a:ext cx="502920" cy="502920"/>
          </a:xfrm>
          <a:prstGeom prst="ellipse">
            <a:avLst/>
          </a:prstGeom>
          <a:solidFill>
            <a:srgbClr val="1B2A4A"/>
          </a:solidFill>
          <a:ln/>
        </p:spPr>
        <p:txBody>
          <a:bodyPr/>
          <a:lstStyle/>
          <a:p>
            <a:endParaRPr lang="ko-KR" altLang="en-US"/>
          </a:p>
        </p:txBody>
      </p:sp>
      <p:sp>
        <p:nvSpPr>
          <p:cNvPr id="7" name="Text 5"/>
          <p:cNvSpPr/>
          <p:nvPr/>
        </p:nvSpPr>
        <p:spPr>
          <a:xfrm>
            <a:off x="914400" y="2670048"/>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Bookman Old Style" pitchFamily="34" charset="0"/>
                <a:ea typeface="Bookman Old Style" pitchFamily="34" charset="-122"/>
                <a:cs typeface="Bookman Old Style" pitchFamily="34" charset="-120"/>
              </a:rPr>
              <a:t>1</a:t>
            </a:r>
            <a:endParaRPr lang="en-US" sz="1800" dirty="0"/>
          </a:p>
        </p:txBody>
      </p:sp>
      <p:sp>
        <p:nvSpPr>
          <p:cNvPr id="8" name="Text 6"/>
          <p:cNvSpPr/>
          <p:nvPr/>
        </p:nvSpPr>
        <p:spPr>
          <a:xfrm>
            <a:off x="1600200" y="2606040"/>
            <a:ext cx="4663440" cy="365760"/>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시각적 완성도</a:t>
            </a:r>
            <a:endParaRPr lang="en-US" sz="1600" dirty="0"/>
          </a:p>
        </p:txBody>
      </p:sp>
      <p:sp>
        <p:nvSpPr>
          <p:cNvPr id="9" name="Text 7"/>
          <p:cNvSpPr/>
          <p:nvPr/>
        </p:nvSpPr>
        <p:spPr>
          <a:xfrm>
            <a:off x="1600200" y="2980944"/>
            <a:ext cx="4709160" cy="640080"/>
          </a:xfrm>
          <a:prstGeom prst="rect">
            <a:avLst/>
          </a:prstGeom>
          <a:noFill/>
          <a:ln/>
        </p:spPr>
        <p:txBody>
          <a:bodyPr wrap="square" lIns="0" tIns="0" rIns="0" bIns="0" rtlCol="0" anchor="ctr"/>
          <a:lstStyle/>
          <a:p>
            <a:pPr marL="0" indent="0">
              <a:buNone/>
            </a:pPr>
            <a:r>
              <a:rPr lang="en-US" sz="1250" dirty="0">
                <a:solidFill>
                  <a:srgbClr val="64748B"/>
                </a:solidFill>
                <a:latin typeface="Calibri" pitchFamily="34" charset="0"/>
                <a:ea typeface="Calibri" pitchFamily="34" charset="-122"/>
                <a:cs typeface="Calibri" pitchFamily="34" charset="-120"/>
              </a:rPr>
              <a:t>패션 이미지 </a:t>
            </a:r>
            <a:r>
              <a:rPr lang="en-US" sz="1250" dirty="0" err="1">
                <a:solidFill>
                  <a:srgbClr val="64748B"/>
                </a:solidFill>
                <a:latin typeface="Calibri" pitchFamily="34" charset="0"/>
                <a:ea typeface="Calibri" pitchFamily="34" charset="-122"/>
                <a:cs typeface="Calibri" pitchFamily="34" charset="-120"/>
              </a:rPr>
              <a:t>중심</a:t>
            </a:r>
            <a:r>
              <a:rPr lang="en-US" sz="1250" dirty="0">
                <a:solidFill>
                  <a:srgbClr val="64748B"/>
                </a:solidFill>
                <a:latin typeface="Calibri" pitchFamily="34" charset="0"/>
                <a:ea typeface="Calibri" pitchFamily="34" charset="-122"/>
                <a:cs typeface="Calibri" pitchFamily="34" charset="-120"/>
              </a:rPr>
              <a:t> UI – </a:t>
            </a:r>
            <a:r>
              <a:rPr lang="ko-KR" altLang="en-US" sz="1250" dirty="0">
                <a:solidFill>
                  <a:srgbClr val="64748B"/>
                </a:solidFill>
                <a:latin typeface="Calibri" pitchFamily="34" charset="0"/>
                <a:ea typeface="Calibri" pitchFamily="34" charset="-122"/>
                <a:cs typeface="Calibri" pitchFamily="34" charset="-120"/>
              </a:rPr>
              <a:t>시각적으로 명확하게 전달 가능</a:t>
            </a:r>
            <a:r>
              <a:rPr lang="en-US" sz="1250" dirty="0">
                <a:solidFill>
                  <a:srgbClr val="64748B"/>
                </a:solidFill>
                <a:latin typeface="Calibri" pitchFamily="34" charset="0"/>
                <a:ea typeface="Calibri" pitchFamily="34" charset="-122"/>
                <a:cs typeface="Calibri" pitchFamily="34" charset="-120"/>
              </a:rPr>
              <a:t> </a:t>
            </a:r>
            <a:endParaRPr lang="en-US" sz="1250" dirty="0"/>
          </a:p>
        </p:txBody>
      </p:sp>
      <p:sp>
        <p:nvSpPr>
          <p:cNvPr id="10" name="Shape 8"/>
          <p:cNvSpPr/>
          <p:nvPr/>
        </p:nvSpPr>
        <p:spPr>
          <a:xfrm>
            <a:off x="914400" y="3840480"/>
            <a:ext cx="502920" cy="502920"/>
          </a:xfrm>
          <a:prstGeom prst="ellipse">
            <a:avLst/>
          </a:prstGeom>
          <a:solidFill>
            <a:srgbClr val="1B2A4A"/>
          </a:solidFill>
          <a:ln/>
        </p:spPr>
        <p:txBody>
          <a:bodyPr/>
          <a:lstStyle/>
          <a:p>
            <a:endParaRPr lang="ko-KR" altLang="en-US"/>
          </a:p>
        </p:txBody>
      </p:sp>
      <p:sp>
        <p:nvSpPr>
          <p:cNvPr id="11" name="Text 9"/>
          <p:cNvSpPr/>
          <p:nvPr/>
        </p:nvSpPr>
        <p:spPr>
          <a:xfrm>
            <a:off x="914400" y="38404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Bookman Old Style" pitchFamily="34" charset="0"/>
                <a:ea typeface="Bookman Old Style" pitchFamily="34" charset="-122"/>
                <a:cs typeface="Bookman Old Style" pitchFamily="34" charset="-120"/>
              </a:rPr>
              <a:t>2</a:t>
            </a:r>
            <a:endParaRPr lang="en-US" sz="1800" dirty="0"/>
          </a:p>
        </p:txBody>
      </p:sp>
      <p:sp>
        <p:nvSpPr>
          <p:cNvPr id="12" name="Text 10"/>
          <p:cNvSpPr/>
          <p:nvPr/>
        </p:nvSpPr>
        <p:spPr>
          <a:xfrm>
            <a:off x="1600200" y="3776472"/>
            <a:ext cx="4663440" cy="365760"/>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명확한 기능 경계</a:t>
            </a:r>
            <a:endParaRPr lang="en-US" sz="1600" dirty="0"/>
          </a:p>
        </p:txBody>
      </p:sp>
      <p:sp>
        <p:nvSpPr>
          <p:cNvPr id="13" name="Text 11"/>
          <p:cNvSpPr/>
          <p:nvPr/>
        </p:nvSpPr>
        <p:spPr>
          <a:xfrm>
            <a:off x="1600200" y="4151376"/>
            <a:ext cx="4709160" cy="640080"/>
          </a:xfrm>
          <a:prstGeom prst="rect">
            <a:avLst/>
          </a:prstGeom>
          <a:noFill/>
          <a:ln/>
        </p:spPr>
        <p:txBody>
          <a:bodyPr wrap="square" lIns="0" tIns="0" rIns="0" bIns="0" rtlCol="0" anchor="ctr"/>
          <a:lstStyle/>
          <a:p>
            <a:pPr marL="0" indent="0">
              <a:buNone/>
            </a:pPr>
            <a:r>
              <a:rPr lang="en-US" sz="1250" dirty="0">
                <a:solidFill>
                  <a:srgbClr val="64748B"/>
                </a:solidFill>
                <a:latin typeface="Calibri" pitchFamily="34" charset="0"/>
                <a:ea typeface="Calibri" pitchFamily="34" charset="-122"/>
                <a:cs typeface="Calibri" pitchFamily="34" charset="-120"/>
              </a:rPr>
              <a:t>홈·카테고리·검색·상세·장바구니·주문으로 모듈 </a:t>
            </a:r>
            <a:r>
              <a:rPr lang="en-US" sz="1250" dirty="0" err="1">
                <a:solidFill>
                  <a:srgbClr val="64748B"/>
                </a:solidFill>
                <a:latin typeface="Calibri" pitchFamily="34" charset="0"/>
                <a:ea typeface="Calibri" pitchFamily="34" charset="-122"/>
                <a:cs typeface="Calibri" pitchFamily="34" charset="-120"/>
              </a:rPr>
              <a:t>분리가</a:t>
            </a:r>
            <a:r>
              <a:rPr lang="en-US" sz="1250" dirty="0">
                <a:solidFill>
                  <a:srgbClr val="64748B"/>
                </a:solidFill>
                <a:latin typeface="Calibri" pitchFamily="34" charset="0"/>
                <a:ea typeface="Calibri" pitchFamily="34" charset="-122"/>
                <a:cs typeface="Calibri" pitchFamily="34" charset="-120"/>
              </a:rPr>
              <a:t> </a:t>
            </a:r>
            <a:r>
              <a:rPr lang="en-US" sz="1250" dirty="0" err="1">
                <a:solidFill>
                  <a:srgbClr val="64748B"/>
                </a:solidFill>
                <a:latin typeface="Calibri" pitchFamily="34" charset="0"/>
                <a:ea typeface="Calibri" pitchFamily="34" charset="-122"/>
                <a:cs typeface="Calibri" pitchFamily="34" charset="-120"/>
              </a:rPr>
              <a:t>자연</a:t>
            </a:r>
            <a:r>
              <a:rPr lang="ko-KR" altLang="en-US" sz="1250" dirty="0">
                <a:solidFill>
                  <a:srgbClr val="64748B"/>
                </a:solidFill>
                <a:latin typeface="Calibri" pitchFamily="34" charset="0"/>
                <a:ea typeface="Calibri" pitchFamily="34" charset="-122"/>
                <a:cs typeface="Calibri" pitchFamily="34" charset="-120"/>
              </a:rPr>
              <a:t>스러움</a:t>
            </a:r>
            <a:endParaRPr lang="en-US" sz="1250" dirty="0"/>
          </a:p>
        </p:txBody>
      </p:sp>
      <p:sp>
        <p:nvSpPr>
          <p:cNvPr id="14" name="Shape 12"/>
          <p:cNvSpPr/>
          <p:nvPr/>
        </p:nvSpPr>
        <p:spPr>
          <a:xfrm>
            <a:off x="914400" y="5010912"/>
            <a:ext cx="502920" cy="502920"/>
          </a:xfrm>
          <a:prstGeom prst="ellipse">
            <a:avLst/>
          </a:prstGeom>
          <a:solidFill>
            <a:srgbClr val="1B2A4A"/>
          </a:solidFill>
          <a:ln/>
        </p:spPr>
        <p:txBody>
          <a:bodyPr/>
          <a:lstStyle/>
          <a:p>
            <a:endParaRPr lang="ko-KR" altLang="en-US"/>
          </a:p>
        </p:txBody>
      </p:sp>
      <p:sp>
        <p:nvSpPr>
          <p:cNvPr id="15" name="Text 13"/>
          <p:cNvSpPr/>
          <p:nvPr/>
        </p:nvSpPr>
        <p:spPr>
          <a:xfrm>
            <a:off x="914400" y="5010912"/>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Bookman Old Style" pitchFamily="34" charset="0"/>
                <a:ea typeface="Bookman Old Style" pitchFamily="34" charset="-122"/>
                <a:cs typeface="Bookman Old Style" pitchFamily="34" charset="-120"/>
              </a:rPr>
              <a:t>3</a:t>
            </a:r>
            <a:endParaRPr lang="en-US" sz="1800" dirty="0"/>
          </a:p>
        </p:txBody>
      </p:sp>
      <p:sp>
        <p:nvSpPr>
          <p:cNvPr id="16" name="Text 14"/>
          <p:cNvSpPr/>
          <p:nvPr/>
        </p:nvSpPr>
        <p:spPr>
          <a:xfrm>
            <a:off x="1600200" y="4946904"/>
            <a:ext cx="4663440" cy="365760"/>
          </a:xfrm>
          <a:prstGeom prst="rect">
            <a:avLst/>
          </a:prstGeom>
          <a:noFill/>
          <a:ln/>
        </p:spPr>
        <p:txBody>
          <a:bodyPr wrap="square" lIns="0" tIns="0" rIns="0" bIns="0" rtlCol="0" anchor="ctr"/>
          <a:lstStyle/>
          <a:p>
            <a:pPr marL="0" indent="0">
              <a:buNone/>
            </a:pPr>
            <a:r>
              <a:rPr lang="en-US" sz="1600" b="1" dirty="0">
                <a:solidFill>
                  <a:srgbClr val="1B2A4A"/>
                </a:solidFill>
                <a:latin typeface="Calibri" pitchFamily="34" charset="0"/>
                <a:ea typeface="Calibri" pitchFamily="34" charset="-122"/>
                <a:cs typeface="Calibri" pitchFamily="34" charset="-120"/>
              </a:rPr>
              <a:t>적절한 난이도</a:t>
            </a:r>
            <a:endParaRPr lang="en-US" sz="1600" dirty="0"/>
          </a:p>
        </p:txBody>
      </p:sp>
      <p:sp>
        <p:nvSpPr>
          <p:cNvPr id="17" name="Text 15"/>
          <p:cNvSpPr/>
          <p:nvPr/>
        </p:nvSpPr>
        <p:spPr>
          <a:xfrm>
            <a:off x="1600200" y="5321808"/>
            <a:ext cx="4709160" cy="640080"/>
          </a:xfrm>
          <a:prstGeom prst="rect">
            <a:avLst/>
          </a:prstGeom>
          <a:noFill/>
          <a:ln/>
        </p:spPr>
        <p:txBody>
          <a:bodyPr wrap="square" lIns="0" tIns="0" rIns="0" bIns="0" rtlCol="0" anchor="ctr"/>
          <a:lstStyle/>
          <a:p>
            <a:pPr marL="0" indent="0">
              <a:buNone/>
            </a:pPr>
            <a:r>
              <a:rPr lang="en-US" sz="1250" dirty="0">
                <a:solidFill>
                  <a:srgbClr val="64748B"/>
                </a:solidFill>
                <a:latin typeface="Calibri" pitchFamily="34" charset="0"/>
                <a:ea typeface="Calibri" pitchFamily="34" charset="-122"/>
                <a:cs typeface="Calibri" pitchFamily="34" charset="-120"/>
              </a:rPr>
              <a:t>결제·물류의 과도한 복잡함 없이 커머스 핵심 </a:t>
            </a:r>
            <a:r>
              <a:rPr lang="en-US" sz="1250" dirty="0" err="1">
                <a:solidFill>
                  <a:srgbClr val="64748B"/>
                </a:solidFill>
                <a:latin typeface="Calibri" pitchFamily="34" charset="0"/>
                <a:ea typeface="Calibri" pitchFamily="34" charset="-122"/>
                <a:cs typeface="Calibri" pitchFamily="34" charset="-120"/>
              </a:rPr>
              <a:t>흐름을</a:t>
            </a:r>
            <a:r>
              <a:rPr lang="en-US" sz="1250" dirty="0">
                <a:solidFill>
                  <a:srgbClr val="64748B"/>
                </a:solidFill>
                <a:latin typeface="Calibri" pitchFamily="34" charset="0"/>
                <a:ea typeface="Calibri" pitchFamily="34" charset="-122"/>
                <a:cs typeface="Calibri" pitchFamily="34" charset="-120"/>
              </a:rPr>
              <a:t> </a:t>
            </a:r>
            <a:r>
              <a:rPr lang="en-US" sz="1250" dirty="0" err="1">
                <a:solidFill>
                  <a:srgbClr val="64748B"/>
                </a:solidFill>
                <a:latin typeface="Calibri" pitchFamily="34" charset="0"/>
                <a:ea typeface="Calibri" pitchFamily="34" charset="-122"/>
                <a:cs typeface="Calibri" pitchFamily="34" charset="-120"/>
              </a:rPr>
              <a:t>완결</a:t>
            </a:r>
            <a:endParaRPr lang="en-US" sz="1250" dirty="0"/>
          </a:p>
        </p:txBody>
      </p:sp>
      <p:sp>
        <p:nvSpPr>
          <p:cNvPr id="18" name="Shape 16"/>
          <p:cNvSpPr/>
          <p:nvPr/>
        </p:nvSpPr>
        <p:spPr>
          <a:xfrm>
            <a:off x="6629400" y="1783080"/>
            <a:ext cx="4892040" cy="4480560"/>
          </a:xfrm>
          <a:prstGeom prst="roundRect">
            <a:avLst>
              <a:gd name="adj" fmla="val 1837"/>
            </a:avLst>
          </a:prstGeom>
          <a:solidFill>
            <a:srgbClr val="1B2A4A"/>
          </a:solidFill>
          <a:ln/>
          <a:effectLst>
            <a:outerShdw blurRad="88900" dist="38100" dir="5400000" algn="bl" rotWithShape="0">
              <a:srgbClr val="000000">
                <a:alpha val="12000"/>
              </a:srgbClr>
            </a:outerShdw>
          </a:effectLst>
        </p:spPr>
        <p:txBody>
          <a:bodyPr/>
          <a:lstStyle/>
          <a:p>
            <a:endParaRPr lang="ko-KR" altLang="en-US"/>
          </a:p>
        </p:txBody>
      </p:sp>
      <p:sp>
        <p:nvSpPr>
          <p:cNvPr id="19" name="Text 17"/>
          <p:cNvSpPr/>
          <p:nvPr/>
        </p:nvSpPr>
        <p:spPr>
          <a:xfrm>
            <a:off x="6903720" y="2011680"/>
            <a:ext cx="4297680" cy="45720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프로젝트 목표</a:t>
            </a:r>
            <a:endParaRPr lang="en-US" sz="1700" dirty="0"/>
          </a:p>
        </p:txBody>
      </p:sp>
      <p:sp>
        <p:nvSpPr>
          <p:cNvPr id="20" name="Shape 18"/>
          <p:cNvSpPr/>
          <p:nvPr/>
        </p:nvSpPr>
        <p:spPr>
          <a:xfrm>
            <a:off x="6903720" y="2606040"/>
            <a:ext cx="658368" cy="658368"/>
          </a:xfrm>
          <a:prstGeom prst="ellipse">
            <a:avLst/>
          </a:prstGeom>
          <a:solidFill>
            <a:srgbClr val="FF6B6B"/>
          </a:solidFill>
          <a:ln/>
        </p:spPr>
        <p:txBody>
          <a:bodyPr/>
          <a:lstStyle/>
          <a:p>
            <a:endParaRPr lang="ko-KR" altLang="en-US"/>
          </a:p>
        </p:txBody>
      </p:sp>
      <p:pic>
        <p:nvPicPr>
          <p:cNvPr id="21" name="Image 0" descr="preencoded.png"/>
          <p:cNvPicPr>
            <a:picLocks noChangeAspect="1"/>
          </p:cNvPicPr>
          <p:nvPr/>
        </p:nvPicPr>
        <p:blipFill>
          <a:blip r:embed="rId3"/>
          <a:stretch>
            <a:fillRect/>
          </a:stretch>
        </p:blipFill>
        <p:spPr>
          <a:xfrm>
            <a:off x="7068312" y="2770632"/>
            <a:ext cx="329184" cy="329184"/>
          </a:xfrm>
          <a:prstGeom prst="rect">
            <a:avLst/>
          </a:prstGeom>
        </p:spPr>
      </p:pic>
      <p:sp>
        <p:nvSpPr>
          <p:cNvPr id="22" name="Text 19"/>
          <p:cNvSpPr/>
          <p:nvPr/>
        </p:nvSpPr>
        <p:spPr>
          <a:xfrm>
            <a:off x="7726680" y="2560320"/>
            <a:ext cx="3657600" cy="384048"/>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핵심 기능 재구현</a:t>
            </a:r>
            <a:endParaRPr lang="en-US" sz="1550" dirty="0"/>
          </a:p>
        </p:txBody>
      </p:sp>
      <p:sp>
        <p:nvSpPr>
          <p:cNvPr id="23" name="Text 20"/>
          <p:cNvSpPr/>
          <p:nvPr/>
        </p:nvSpPr>
        <p:spPr>
          <a:xfrm>
            <a:off x="7726680" y="2953512"/>
            <a:ext cx="3657600" cy="365760"/>
          </a:xfrm>
          <a:prstGeom prst="rect">
            <a:avLst/>
          </a:prstGeom>
          <a:noFill/>
          <a:ln/>
        </p:spPr>
        <p:txBody>
          <a:bodyPr wrap="square" lIns="0" tIns="0" rIns="0" bIns="0" rtlCol="0" anchor="ctr"/>
          <a:lstStyle/>
          <a:p>
            <a:pPr marL="0" indent="0">
              <a:buNone/>
            </a:pPr>
            <a:r>
              <a:rPr lang="en-US" sz="1200" dirty="0">
                <a:solidFill>
                  <a:srgbClr val="CFE0FF"/>
                </a:solidFill>
                <a:latin typeface="Calibri" pitchFamily="34" charset="0"/>
                <a:ea typeface="Calibri" pitchFamily="34" charset="-122"/>
                <a:cs typeface="Calibri" pitchFamily="34" charset="-120"/>
              </a:rPr>
              <a:t>동작하는 쇼핑 앱을 직접 구현</a:t>
            </a:r>
            <a:endParaRPr lang="en-US" sz="1200" dirty="0"/>
          </a:p>
        </p:txBody>
      </p:sp>
      <p:sp>
        <p:nvSpPr>
          <p:cNvPr id="24" name="Shape 21"/>
          <p:cNvSpPr/>
          <p:nvPr/>
        </p:nvSpPr>
        <p:spPr>
          <a:xfrm>
            <a:off x="6903720" y="3657600"/>
            <a:ext cx="658368" cy="658368"/>
          </a:xfrm>
          <a:prstGeom prst="ellipse">
            <a:avLst/>
          </a:prstGeom>
          <a:solidFill>
            <a:srgbClr val="FF6B6B"/>
          </a:solidFill>
          <a:ln/>
        </p:spPr>
        <p:txBody>
          <a:bodyPr/>
          <a:lstStyle/>
          <a:p>
            <a:endParaRPr lang="ko-KR" altLang="en-US"/>
          </a:p>
        </p:txBody>
      </p:sp>
      <p:pic>
        <p:nvPicPr>
          <p:cNvPr id="25" name="Image 1" descr="preencoded.png"/>
          <p:cNvPicPr>
            <a:picLocks noChangeAspect="1"/>
          </p:cNvPicPr>
          <p:nvPr/>
        </p:nvPicPr>
        <p:blipFill>
          <a:blip r:embed="rId4"/>
          <a:stretch>
            <a:fillRect/>
          </a:stretch>
        </p:blipFill>
        <p:spPr>
          <a:xfrm>
            <a:off x="7068312" y="3822192"/>
            <a:ext cx="329184" cy="329184"/>
          </a:xfrm>
          <a:prstGeom prst="rect">
            <a:avLst/>
          </a:prstGeom>
        </p:spPr>
      </p:pic>
      <p:sp>
        <p:nvSpPr>
          <p:cNvPr id="26" name="Text 22"/>
          <p:cNvSpPr/>
          <p:nvPr/>
        </p:nvSpPr>
        <p:spPr>
          <a:xfrm>
            <a:off x="7726680" y="3611880"/>
            <a:ext cx="3657600" cy="384048"/>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멀티모듈 아키텍처</a:t>
            </a:r>
            <a:endParaRPr lang="en-US" sz="1550" dirty="0"/>
          </a:p>
        </p:txBody>
      </p:sp>
      <p:sp>
        <p:nvSpPr>
          <p:cNvPr id="27" name="Text 23"/>
          <p:cNvSpPr/>
          <p:nvPr/>
        </p:nvSpPr>
        <p:spPr>
          <a:xfrm>
            <a:off x="7726680" y="4005072"/>
            <a:ext cx="3657600" cy="365760"/>
          </a:xfrm>
          <a:prstGeom prst="rect">
            <a:avLst/>
          </a:prstGeom>
          <a:noFill/>
          <a:ln/>
        </p:spPr>
        <p:txBody>
          <a:bodyPr wrap="square" lIns="0" tIns="0" rIns="0" bIns="0" rtlCol="0" anchor="ctr"/>
          <a:lstStyle/>
          <a:p>
            <a:pPr marL="0" indent="0">
              <a:buNone/>
            </a:pPr>
            <a:r>
              <a:rPr lang="en-US" sz="1200" dirty="0">
                <a:solidFill>
                  <a:srgbClr val="CFE0FF"/>
                </a:solidFill>
                <a:latin typeface="Calibri" pitchFamily="34" charset="0"/>
                <a:ea typeface="Calibri" pitchFamily="34" charset="-122"/>
                <a:cs typeface="Calibri" pitchFamily="34" charset="-120"/>
              </a:rPr>
              <a:t>실무 아키텍처를 직접 경험</a:t>
            </a:r>
            <a:endParaRPr lang="en-US" sz="1200" dirty="0"/>
          </a:p>
        </p:txBody>
      </p:sp>
      <p:sp>
        <p:nvSpPr>
          <p:cNvPr id="29" name="Shape 25"/>
          <p:cNvSpPr/>
          <p:nvPr/>
        </p:nvSpPr>
        <p:spPr>
          <a:xfrm>
            <a:off x="6903720" y="4700451"/>
            <a:ext cx="4343400" cy="502920"/>
          </a:xfrm>
          <a:prstGeom prst="roundRect">
            <a:avLst>
              <a:gd name="adj" fmla="val 10909"/>
            </a:avLst>
          </a:prstGeom>
          <a:solidFill>
            <a:srgbClr val="26375C"/>
          </a:solidFill>
          <a:ln/>
        </p:spPr>
        <p:txBody>
          <a:bodyPr/>
          <a:lstStyle/>
          <a:p>
            <a:endParaRPr lang="ko-KR" altLang="en-US"/>
          </a:p>
        </p:txBody>
      </p:sp>
      <p:sp>
        <p:nvSpPr>
          <p:cNvPr id="30" name="Text 26"/>
          <p:cNvSpPr/>
          <p:nvPr/>
        </p:nvSpPr>
        <p:spPr>
          <a:xfrm>
            <a:off x="7086600" y="4700451"/>
            <a:ext cx="4023360" cy="5029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① 기존 앱 벤치마킹 + 기능 수정·추가</a:t>
            </a:r>
            <a:endParaRPr lang="en-US" sz="1250" dirty="0"/>
          </a:p>
        </p:txBody>
      </p:sp>
      <p:sp>
        <p:nvSpPr>
          <p:cNvPr id="31" name="Shape 27"/>
          <p:cNvSpPr/>
          <p:nvPr/>
        </p:nvSpPr>
        <p:spPr>
          <a:xfrm>
            <a:off x="6903720" y="5322243"/>
            <a:ext cx="4343400" cy="502920"/>
          </a:xfrm>
          <a:prstGeom prst="roundRect">
            <a:avLst>
              <a:gd name="adj" fmla="val 10909"/>
            </a:avLst>
          </a:prstGeom>
          <a:solidFill>
            <a:srgbClr val="26375C"/>
          </a:solidFill>
          <a:ln/>
        </p:spPr>
        <p:txBody>
          <a:bodyPr/>
          <a:lstStyle/>
          <a:p>
            <a:endParaRPr lang="ko-KR" altLang="en-US"/>
          </a:p>
        </p:txBody>
      </p:sp>
      <p:sp>
        <p:nvSpPr>
          <p:cNvPr id="32" name="Text 28"/>
          <p:cNvSpPr/>
          <p:nvPr/>
        </p:nvSpPr>
        <p:spPr>
          <a:xfrm>
            <a:off x="7086600" y="5322243"/>
            <a:ext cx="4023360" cy="50292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② New Module 10개 이상 구현</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a:effectLst/>
      </p:bgPr>
    </p:bg>
    <p:spTree>
      <p:nvGrpSpPr>
        <p:cNvPr id="1" name=""/>
        <p:cNvGrpSpPr/>
        <p:nvPr/>
      </p:nvGrpSpPr>
      <p:grpSpPr>
        <a:xfrm>
          <a:off x="0" y="0"/>
          <a:ext cx="0" cy="0"/>
          <a:chOff x="0" y="0"/>
          <a:chExt cx="0" cy="0"/>
        </a:xfrm>
      </p:grpSpPr>
      <p:sp>
        <p:nvSpPr>
          <p:cNvPr id="2" name="Text 0"/>
          <p:cNvSpPr/>
          <p:nvPr/>
        </p:nvSpPr>
        <p:spPr>
          <a:xfrm>
            <a:off x="640080" y="502920"/>
            <a:ext cx="7315200" cy="320040"/>
          </a:xfrm>
          <a:prstGeom prst="rect">
            <a:avLst/>
          </a:prstGeom>
          <a:noFill/>
          <a:ln/>
        </p:spPr>
        <p:txBody>
          <a:bodyPr wrap="square" lIns="0" tIns="0" rIns="0" bIns="0" rtlCol="0" anchor="ctr"/>
          <a:lstStyle/>
          <a:p>
            <a:pPr marL="0" indent="0">
              <a:buNone/>
            </a:pPr>
            <a:r>
              <a:rPr lang="en-US" sz="1200" b="1" kern="0" spc="300" dirty="0">
                <a:solidFill>
                  <a:srgbClr val="FF6B6B"/>
                </a:solidFill>
                <a:latin typeface="Calibri" pitchFamily="34" charset="0"/>
                <a:ea typeface="Calibri" pitchFamily="34" charset="-122"/>
                <a:cs typeface="Calibri" pitchFamily="34" charset="-120"/>
              </a:rPr>
              <a:t>02  ARCHITECTURE</a:t>
            </a:r>
            <a:endParaRPr lang="en-US" sz="1200" dirty="0"/>
          </a:p>
        </p:txBody>
      </p:sp>
      <p:sp>
        <p:nvSpPr>
          <p:cNvPr id="3" name="Text 1"/>
          <p:cNvSpPr/>
          <p:nvPr/>
        </p:nvSpPr>
        <p:spPr>
          <a:xfrm>
            <a:off x="640080" y="822960"/>
            <a:ext cx="10972800" cy="777240"/>
          </a:xfrm>
          <a:prstGeom prst="rect">
            <a:avLst/>
          </a:prstGeom>
          <a:noFill/>
          <a:ln/>
        </p:spPr>
        <p:txBody>
          <a:bodyPr wrap="square" lIns="0" tIns="0" rIns="0" bIns="0" rtlCol="0" anchor="ctr"/>
          <a:lstStyle/>
          <a:p>
            <a:pPr marL="0" indent="0">
              <a:buNone/>
            </a:pPr>
            <a:r>
              <a:rPr lang="en-US" sz="3000" b="1" dirty="0">
                <a:solidFill>
                  <a:srgbClr val="1E293B"/>
                </a:solidFill>
                <a:latin typeface="Bookman Old Style" pitchFamily="34" charset="0"/>
                <a:ea typeface="Bookman Old Style" pitchFamily="34" charset="-122"/>
                <a:cs typeface="Bookman Old Style" pitchFamily="34" charset="-120"/>
              </a:rPr>
              <a:t>10개 </a:t>
            </a:r>
            <a:r>
              <a:rPr lang="ko-KR" altLang="en-US" sz="3000" b="1" dirty="0">
                <a:solidFill>
                  <a:srgbClr val="1E293B"/>
                </a:solidFill>
                <a:latin typeface="Bookman Old Style" pitchFamily="34" charset="0"/>
                <a:ea typeface="Bookman Old Style" pitchFamily="34" charset="-122"/>
                <a:cs typeface="Bookman Old Style" pitchFamily="34" charset="-120"/>
              </a:rPr>
              <a:t>이상</a:t>
            </a:r>
            <a:r>
              <a:rPr lang="en-US" sz="3000" b="1" dirty="0">
                <a:solidFill>
                  <a:srgbClr val="1E293B"/>
                </a:solidFill>
                <a:latin typeface="Bookman Old Style" pitchFamily="34" charset="0"/>
                <a:ea typeface="Bookman Old Style" pitchFamily="34" charset="-122"/>
                <a:cs typeface="Bookman Old Style" pitchFamily="34" charset="-120"/>
              </a:rPr>
              <a:t> 모듈 · 단방향 멀티모듈 구조</a:t>
            </a:r>
            <a:endParaRPr lang="en-US" sz="3000" dirty="0"/>
          </a:p>
        </p:txBody>
      </p:sp>
      <p:sp>
        <p:nvSpPr>
          <p:cNvPr id="4" name="Shape 2"/>
          <p:cNvSpPr/>
          <p:nvPr/>
        </p:nvSpPr>
        <p:spPr>
          <a:xfrm>
            <a:off x="4206240" y="1737360"/>
            <a:ext cx="3749040" cy="530352"/>
          </a:xfrm>
          <a:prstGeom prst="roundRect">
            <a:avLst>
              <a:gd name="adj" fmla="val 13793"/>
            </a:avLst>
          </a:prstGeom>
          <a:solidFill>
            <a:srgbClr val="FF6B6B"/>
          </a:solidFill>
          <a:ln/>
          <a:effectLst>
            <a:outerShdw blurRad="88900" dist="38100" dir="5400000" algn="bl" rotWithShape="0">
              <a:srgbClr val="000000">
                <a:alpha val="12000"/>
              </a:srgbClr>
            </a:outerShdw>
          </a:effectLst>
        </p:spPr>
        <p:txBody>
          <a:bodyPr/>
          <a:lstStyle/>
          <a:p>
            <a:endParaRPr lang="ko-KR" altLang="en-US"/>
          </a:p>
        </p:txBody>
      </p:sp>
      <p:sp>
        <p:nvSpPr>
          <p:cNvPr id="5" name="Text 3"/>
          <p:cNvSpPr/>
          <p:nvPr/>
        </p:nvSpPr>
        <p:spPr>
          <a:xfrm>
            <a:off x="4206240" y="1737360"/>
            <a:ext cx="3749040" cy="530352"/>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:app   앱 진입점 · 네비게이션 호스트</a:t>
            </a:r>
            <a:endParaRPr lang="en-US" sz="1250" dirty="0"/>
          </a:p>
        </p:txBody>
      </p:sp>
      <p:sp>
        <p:nvSpPr>
          <p:cNvPr id="6" name="Shape 4"/>
          <p:cNvSpPr/>
          <p:nvPr/>
        </p:nvSpPr>
        <p:spPr>
          <a:xfrm>
            <a:off x="640080" y="2514600"/>
            <a:ext cx="10881360" cy="1572768"/>
          </a:xfrm>
          <a:prstGeom prst="roundRect">
            <a:avLst>
              <a:gd name="adj" fmla="val 4651"/>
            </a:avLst>
          </a:prstGeom>
          <a:solidFill>
            <a:srgbClr val="FFFFFF"/>
          </a:solidFill>
          <a:ln/>
          <a:effectLst>
            <a:outerShdw blurRad="88900" dist="38100" dir="5400000" algn="bl" rotWithShape="0">
              <a:srgbClr val="000000">
                <a:alpha val="12000"/>
              </a:srgbClr>
            </a:outerShdw>
          </a:effectLst>
        </p:spPr>
        <p:txBody>
          <a:bodyPr/>
          <a:lstStyle/>
          <a:p>
            <a:endParaRPr lang="ko-KR" altLang="en-US"/>
          </a:p>
        </p:txBody>
      </p:sp>
      <p:sp>
        <p:nvSpPr>
          <p:cNvPr id="7" name="Text 5"/>
          <p:cNvSpPr/>
          <p:nvPr/>
        </p:nvSpPr>
        <p:spPr>
          <a:xfrm>
            <a:off x="868680" y="2624328"/>
            <a:ext cx="10424160" cy="320040"/>
          </a:xfrm>
          <a:prstGeom prst="rect">
            <a:avLst/>
          </a:prstGeom>
          <a:noFill/>
          <a:ln/>
        </p:spPr>
        <p:txBody>
          <a:bodyPr wrap="square" lIns="0" tIns="0" rIns="0" bIns="0" rtlCol="0" anchor="ctr"/>
          <a:lstStyle/>
          <a:p>
            <a:pPr marL="0" indent="0">
              <a:buNone/>
            </a:pPr>
            <a:r>
              <a:rPr lang="en-US" sz="1250" b="1" dirty="0">
                <a:solidFill>
                  <a:srgbClr val="1B2A4A"/>
                </a:solidFill>
                <a:latin typeface="Calibri" pitchFamily="34" charset="0"/>
                <a:ea typeface="Calibri" pitchFamily="34" charset="-122"/>
                <a:cs typeface="Calibri" pitchFamily="34" charset="-120"/>
              </a:rPr>
              <a:t>FEATURE </a:t>
            </a:r>
            <a:r>
              <a:rPr lang="en-US" sz="1250" b="1" dirty="0" err="1">
                <a:solidFill>
                  <a:srgbClr val="1B2A4A"/>
                </a:solidFill>
                <a:latin typeface="Calibri" pitchFamily="34" charset="0"/>
                <a:ea typeface="Calibri" pitchFamily="34" charset="-122"/>
                <a:cs typeface="Calibri" pitchFamily="34" charset="-120"/>
              </a:rPr>
              <a:t>계층</a:t>
            </a:r>
            <a:r>
              <a:rPr lang="en-US" sz="1250" dirty="0">
                <a:solidFill>
                  <a:srgbClr val="64748B"/>
                </a:solidFill>
                <a:latin typeface="Calibri" pitchFamily="34" charset="0"/>
                <a:ea typeface="Calibri" pitchFamily="34" charset="-122"/>
                <a:cs typeface="Calibri" pitchFamily="34" charset="-120"/>
              </a:rPr>
              <a:t>  </a:t>
            </a:r>
            <a:endParaRPr lang="en-US" sz="1250" dirty="0"/>
          </a:p>
        </p:txBody>
      </p:sp>
      <p:sp>
        <p:nvSpPr>
          <p:cNvPr id="8" name="Shape 6"/>
          <p:cNvSpPr/>
          <p:nvPr/>
        </p:nvSpPr>
        <p:spPr>
          <a:xfrm>
            <a:off x="868680" y="3035808"/>
            <a:ext cx="2468880" cy="411480"/>
          </a:xfrm>
          <a:prstGeom prst="roundRect">
            <a:avLst>
              <a:gd name="adj" fmla="val 11111"/>
            </a:avLst>
          </a:prstGeom>
          <a:solidFill>
            <a:srgbClr val="EEF2FA"/>
          </a:solidFill>
          <a:ln/>
        </p:spPr>
        <p:txBody>
          <a:bodyPr/>
          <a:lstStyle/>
          <a:p>
            <a:endParaRPr lang="ko-KR" altLang="en-US"/>
          </a:p>
        </p:txBody>
      </p:sp>
      <p:sp>
        <p:nvSpPr>
          <p:cNvPr id="9" name="Text 7"/>
          <p:cNvSpPr/>
          <p:nvPr/>
        </p:nvSpPr>
        <p:spPr>
          <a:xfrm>
            <a:off x="868680" y="3035808"/>
            <a:ext cx="2468880" cy="411480"/>
          </a:xfrm>
          <a:prstGeom prst="rect">
            <a:avLst/>
          </a:prstGeom>
          <a:noFill/>
          <a:ln/>
        </p:spPr>
        <p:txBody>
          <a:bodyPr wrap="square" lIns="0" tIns="0" rIns="0" bIns="0" rtlCol="0" anchor="ctr"/>
          <a:lstStyle/>
          <a:p>
            <a:pPr marL="0" indent="0" algn="ctr">
              <a:buNone/>
            </a:pPr>
            <a:r>
              <a:rPr lang="en-US" sz="1200" b="1" dirty="0">
                <a:solidFill>
                  <a:srgbClr val="26375C"/>
                </a:solidFill>
                <a:latin typeface="Calibri" pitchFamily="34" charset="0"/>
                <a:ea typeface="Calibri" pitchFamily="34" charset="-122"/>
                <a:cs typeface="Calibri" pitchFamily="34" charset="-120"/>
              </a:rPr>
              <a:t>:feature:auth</a:t>
            </a:r>
            <a:endParaRPr lang="en-US" sz="1200" dirty="0"/>
          </a:p>
        </p:txBody>
      </p:sp>
      <p:sp>
        <p:nvSpPr>
          <p:cNvPr id="10" name="Shape 8"/>
          <p:cNvSpPr/>
          <p:nvPr/>
        </p:nvSpPr>
        <p:spPr>
          <a:xfrm>
            <a:off x="3520440" y="3035808"/>
            <a:ext cx="2468880" cy="411480"/>
          </a:xfrm>
          <a:prstGeom prst="roundRect">
            <a:avLst>
              <a:gd name="adj" fmla="val 11111"/>
            </a:avLst>
          </a:prstGeom>
          <a:solidFill>
            <a:srgbClr val="EEF2FA"/>
          </a:solidFill>
          <a:ln/>
        </p:spPr>
        <p:txBody>
          <a:bodyPr/>
          <a:lstStyle/>
          <a:p>
            <a:endParaRPr lang="ko-KR" altLang="en-US"/>
          </a:p>
        </p:txBody>
      </p:sp>
      <p:sp>
        <p:nvSpPr>
          <p:cNvPr id="11" name="Text 9"/>
          <p:cNvSpPr/>
          <p:nvPr/>
        </p:nvSpPr>
        <p:spPr>
          <a:xfrm>
            <a:off x="3520440" y="3035808"/>
            <a:ext cx="2468880" cy="411480"/>
          </a:xfrm>
          <a:prstGeom prst="rect">
            <a:avLst/>
          </a:prstGeom>
          <a:noFill/>
          <a:ln/>
        </p:spPr>
        <p:txBody>
          <a:bodyPr wrap="square" lIns="0" tIns="0" rIns="0" bIns="0" rtlCol="0" anchor="ctr"/>
          <a:lstStyle/>
          <a:p>
            <a:pPr marL="0" indent="0" algn="ctr">
              <a:buNone/>
            </a:pPr>
            <a:r>
              <a:rPr lang="en-US" sz="1200" b="1" dirty="0">
                <a:solidFill>
                  <a:srgbClr val="26375C"/>
                </a:solidFill>
                <a:latin typeface="Calibri" pitchFamily="34" charset="0"/>
                <a:ea typeface="Calibri" pitchFamily="34" charset="-122"/>
                <a:cs typeface="Calibri" pitchFamily="34" charset="-120"/>
              </a:rPr>
              <a:t>:feature:home</a:t>
            </a:r>
            <a:endParaRPr lang="en-US" sz="1200" dirty="0"/>
          </a:p>
        </p:txBody>
      </p:sp>
      <p:sp>
        <p:nvSpPr>
          <p:cNvPr id="12" name="Shape 10"/>
          <p:cNvSpPr/>
          <p:nvPr/>
        </p:nvSpPr>
        <p:spPr>
          <a:xfrm>
            <a:off x="6172200" y="3035808"/>
            <a:ext cx="2468880" cy="411480"/>
          </a:xfrm>
          <a:prstGeom prst="roundRect">
            <a:avLst>
              <a:gd name="adj" fmla="val 11111"/>
            </a:avLst>
          </a:prstGeom>
          <a:solidFill>
            <a:srgbClr val="EEF2FA"/>
          </a:solidFill>
          <a:ln/>
        </p:spPr>
        <p:txBody>
          <a:bodyPr/>
          <a:lstStyle/>
          <a:p>
            <a:endParaRPr lang="ko-KR" altLang="en-US"/>
          </a:p>
        </p:txBody>
      </p:sp>
      <p:sp>
        <p:nvSpPr>
          <p:cNvPr id="13" name="Text 11"/>
          <p:cNvSpPr/>
          <p:nvPr/>
        </p:nvSpPr>
        <p:spPr>
          <a:xfrm>
            <a:off x="6172200" y="3035808"/>
            <a:ext cx="2468880" cy="411480"/>
          </a:xfrm>
          <a:prstGeom prst="rect">
            <a:avLst/>
          </a:prstGeom>
          <a:noFill/>
          <a:ln/>
        </p:spPr>
        <p:txBody>
          <a:bodyPr wrap="square" lIns="0" tIns="0" rIns="0" bIns="0" rtlCol="0" anchor="ctr"/>
          <a:lstStyle/>
          <a:p>
            <a:pPr marL="0" indent="0" algn="ctr">
              <a:buNone/>
            </a:pPr>
            <a:r>
              <a:rPr lang="en-US" sz="1200" b="1" dirty="0">
                <a:solidFill>
                  <a:srgbClr val="26375C"/>
                </a:solidFill>
                <a:latin typeface="Calibri" pitchFamily="34" charset="0"/>
                <a:ea typeface="Calibri" pitchFamily="34" charset="-122"/>
                <a:cs typeface="Calibri" pitchFamily="34" charset="-120"/>
              </a:rPr>
              <a:t>:feature:category</a:t>
            </a:r>
            <a:endParaRPr lang="en-US" sz="1200" dirty="0"/>
          </a:p>
        </p:txBody>
      </p:sp>
      <p:sp>
        <p:nvSpPr>
          <p:cNvPr id="14" name="Shape 12"/>
          <p:cNvSpPr/>
          <p:nvPr/>
        </p:nvSpPr>
        <p:spPr>
          <a:xfrm>
            <a:off x="8823960" y="3035808"/>
            <a:ext cx="2468880" cy="411480"/>
          </a:xfrm>
          <a:prstGeom prst="roundRect">
            <a:avLst>
              <a:gd name="adj" fmla="val 11111"/>
            </a:avLst>
          </a:prstGeom>
          <a:solidFill>
            <a:srgbClr val="EEF2FA"/>
          </a:solidFill>
          <a:ln/>
        </p:spPr>
        <p:txBody>
          <a:bodyPr/>
          <a:lstStyle/>
          <a:p>
            <a:endParaRPr lang="ko-KR" altLang="en-US"/>
          </a:p>
        </p:txBody>
      </p:sp>
      <p:sp>
        <p:nvSpPr>
          <p:cNvPr id="15" name="Text 13"/>
          <p:cNvSpPr/>
          <p:nvPr/>
        </p:nvSpPr>
        <p:spPr>
          <a:xfrm>
            <a:off x="8823960" y="3035808"/>
            <a:ext cx="2468880" cy="411480"/>
          </a:xfrm>
          <a:prstGeom prst="rect">
            <a:avLst/>
          </a:prstGeom>
          <a:noFill/>
          <a:ln/>
        </p:spPr>
        <p:txBody>
          <a:bodyPr wrap="square" lIns="0" tIns="0" rIns="0" bIns="0" rtlCol="0" anchor="ctr"/>
          <a:lstStyle/>
          <a:p>
            <a:pPr marL="0" indent="0" algn="ctr">
              <a:buNone/>
            </a:pPr>
            <a:r>
              <a:rPr lang="en-US" sz="1200" b="1" dirty="0">
                <a:solidFill>
                  <a:srgbClr val="26375C"/>
                </a:solidFill>
                <a:latin typeface="Calibri" pitchFamily="34" charset="0"/>
                <a:ea typeface="Calibri" pitchFamily="34" charset="-122"/>
                <a:cs typeface="Calibri" pitchFamily="34" charset="-120"/>
              </a:rPr>
              <a:t>:feature:search</a:t>
            </a:r>
            <a:endParaRPr lang="en-US" sz="1200" dirty="0"/>
          </a:p>
        </p:txBody>
      </p:sp>
      <p:sp>
        <p:nvSpPr>
          <p:cNvPr id="16" name="Shape 14"/>
          <p:cNvSpPr/>
          <p:nvPr/>
        </p:nvSpPr>
        <p:spPr>
          <a:xfrm>
            <a:off x="868680" y="3538728"/>
            <a:ext cx="2468880" cy="411480"/>
          </a:xfrm>
          <a:prstGeom prst="roundRect">
            <a:avLst>
              <a:gd name="adj" fmla="val 11111"/>
            </a:avLst>
          </a:prstGeom>
          <a:solidFill>
            <a:srgbClr val="EEF2FA"/>
          </a:solidFill>
          <a:ln/>
        </p:spPr>
        <p:txBody>
          <a:bodyPr/>
          <a:lstStyle/>
          <a:p>
            <a:endParaRPr lang="ko-KR" altLang="en-US"/>
          </a:p>
        </p:txBody>
      </p:sp>
      <p:sp>
        <p:nvSpPr>
          <p:cNvPr id="17" name="Text 15"/>
          <p:cNvSpPr/>
          <p:nvPr/>
        </p:nvSpPr>
        <p:spPr>
          <a:xfrm>
            <a:off x="868680" y="3538728"/>
            <a:ext cx="2468880" cy="411480"/>
          </a:xfrm>
          <a:prstGeom prst="rect">
            <a:avLst/>
          </a:prstGeom>
          <a:noFill/>
          <a:ln/>
        </p:spPr>
        <p:txBody>
          <a:bodyPr wrap="square" lIns="0" tIns="0" rIns="0" bIns="0" rtlCol="0" anchor="ctr"/>
          <a:lstStyle/>
          <a:p>
            <a:pPr marL="0" indent="0" algn="ctr">
              <a:buNone/>
            </a:pPr>
            <a:r>
              <a:rPr lang="en-US" sz="1200" b="1" dirty="0">
                <a:solidFill>
                  <a:srgbClr val="26375C"/>
                </a:solidFill>
                <a:latin typeface="Calibri" pitchFamily="34" charset="0"/>
                <a:ea typeface="Calibri" pitchFamily="34" charset="-122"/>
                <a:cs typeface="Calibri" pitchFamily="34" charset="-120"/>
              </a:rPr>
              <a:t>:feature:productdetail</a:t>
            </a:r>
            <a:endParaRPr lang="en-US" sz="1200" dirty="0"/>
          </a:p>
        </p:txBody>
      </p:sp>
      <p:sp>
        <p:nvSpPr>
          <p:cNvPr id="18" name="Shape 16"/>
          <p:cNvSpPr/>
          <p:nvPr/>
        </p:nvSpPr>
        <p:spPr>
          <a:xfrm>
            <a:off x="3520440" y="3538728"/>
            <a:ext cx="2468880" cy="411480"/>
          </a:xfrm>
          <a:prstGeom prst="roundRect">
            <a:avLst>
              <a:gd name="adj" fmla="val 11111"/>
            </a:avLst>
          </a:prstGeom>
          <a:solidFill>
            <a:srgbClr val="EEF2FA"/>
          </a:solidFill>
          <a:ln/>
        </p:spPr>
        <p:txBody>
          <a:bodyPr/>
          <a:lstStyle/>
          <a:p>
            <a:endParaRPr lang="ko-KR" altLang="en-US"/>
          </a:p>
        </p:txBody>
      </p:sp>
      <p:sp>
        <p:nvSpPr>
          <p:cNvPr id="19" name="Text 17"/>
          <p:cNvSpPr/>
          <p:nvPr/>
        </p:nvSpPr>
        <p:spPr>
          <a:xfrm>
            <a:off x="3520440" y="3538728"/>
            <a:ext cx="2468880" cy="411480"/>
          </a:xfrm>
          <a:prstGeom prst="rect">
            <a:avLst/>
          </a:prstGeom>
          <a:noFill/>
          <a:ln/>
        </p:spPr>
        <p:txBody>
          <a:bodyPr wrap="square" lIns="0" tIns="0" rIns="0" bIns="0" rtlCol="0" anchor="ctr"/>
          <a:lstStyle/>
          <a:p>
            <a:pPr marL="0" indent="0" algn="ctr">
              <a:buNone/>
            </a:pPr>
            <a:r>
              <a:rPr lang="en-US" sz="1200" b="1" dirty="0">
                <a:solidFill>
                  <a:srgbClr val="26375C"/>
                </a:solidFill>
                <a:latin typeface="Calibri" pitchFamily="34" charset="0"/>
                <a:ea typeface="Calibri" pitchFamily="34" charset="-122"/>
                <a:cs typeface="Calibri" pitchFamily="34" charset="-120"/>
              </a:rPr>
              <a:t>:feature:cart</a:t>
            </a:r>
            <a:endParaRPr lang="en-US" sz="1200" dirty="0"/>
          </a:p>
        </p:txBody>
      </p:sp>
      <p:sp>
        <p:nvSpPr>
          <p:cNvPr id="20" name="Shape 18"/>
          <p:cNvSpPr/>
          <p:nvPr/>
        </p:nvSpPr>
        <p:spPr>
          <a:xfrm>
            <a:off x="6172200" y="3538728"/>
            <a:ext cx="2468880" cy="411480"/>
          </a:xfrm>
          <a:prstGeom prst="roundRect">
            <a:avLst>
              <a:gd name="adj" fmla="val 11111"/>
            </a:avLst>
          </a:prstGeom>
          <a:solidFill>
            <a:srgbClr val="EEF2FA"/>
          </a:solidFill>
          <a:ln/>
        </p:spPr>
        <p:txBody>
          <a:bodyPr/>
          <a:lstStyle/>
          <a:p>
            <a:endParaRPr lang="ko-KR" altLang="en-US"/>
          </a:p>
        </p:txBody>
      </p:sp>
      <p:sp>
        <p:nvSpPr>
          <p:cNvPr id="21" name="Text 19"/>
          <p:cNvSpPr/>
          <p:nvPr/>
        </p:nvSpPr>
        <p:spPr>
          <a:xfrm>
            <a:off x="6172200" y="3538728"/>
            <a:ext cx="2468880" cy="411480"/>
          </a:xfrm>
          <a:prstGeom prst="rect">
            <a:avLst/>
          </a:prstGeom>
          <a:noFill/>
          <a:ln/>
        </p:spPr>
        <p:txBody>
          <a:bodyPr wrap="square" lIns="0" tIns="0" rIns="0" bIns="0" rtlCol="0" anchor="ctr"/>
          <a:lstStyle/>
          <a:p>
            <a:pPr marL="0" indent="0" algn="ctr">
              <a:buNone/>
            </a:pPr>
            <a:r>
              <a:rPr lang="en-US" sz="1200" b="1" dirty="0">
                <a:solidFill>
                  <a:srgbClr val="26375C"/>
                </a:solidFill>
                <a:latin typeface="Calibri" pitchFamily="34" charset="0"/>
                <a:ea typeface="Calibri" pitchFamily="34" charset="-122"/>
                <a:cs typeface="Calibri" pitchFamily="34" charset="-120"/>
              </a:rPr>
              <a:t>:feature:order</a:t>
            </a:r>
            <a:endParaRPr lang="en-US" sz="1200" dirty="0"/>
          </a:p>
        </p:txBody>
      </p:sp>
      <p:sp>
        <p:nvSpPr>
          <p:cNvPr id="22" name="Shape 20"/>
          <p:cNvSpPr/>
          <p:nvPr/>
        </p:nvSpPr>
        <p:spPr>
          <a:xfrm>
            <a:off x="8823960" y="3538728"/>
            <a:ext cx="2468880" cy="411480"/>
          </a:xfrm>
          <a:prstGeom prst="roundRect">
            <a:avLst>
              <a:gd name="adj" fmla="val 11111"/>
            </a:avLst>
          </a:prstGeom>
          <a:solidFill>
            <a:srgbClr val="EEF2FA"/>
          </a:solidFill>
          <a:ln/>
        </p:spPr>
        <p:txBody>
          <a:bodyPr/>
          <a:lstStyle/>
          <a:p>
            <a:endParaRPr lang="ko-KR" altLang="en-US"/>
          </a:p>
        </p:txBody>
      </p:sp>
      <p:sp>
        <p:nvSpPr>
          <p:cNvPr id="23" name="Text 21"/>
          <p:cNvSpPr/>
          <p:nvPr/>
        </p:nvSpPr>
        <p:spPr>
          <a:xfrm>
            <a:off x="8823960" y="3538728"/>
            <a:ext cx="2468880" cy="411480"/>
          </a:xfrm>
          <a:prstGeom prst="rect">
            <a:avLst/>
          </a:prstGeom>
          <a:noFill/>
          <a:ln/>
        </p:spPr>
        <p:txBody>
          <a:bodyPr wrap="square" lIns="0" tIns="0" rIns="0" bIns="0" rtlCol="0" anchor="ctr"/>
          <a:lstStyle/>
          <a:p>
            <a:pPr marL="0" indent="0" algn="ctr">
              <a:buNone/>
            </a:pPr>
            <a:r>
              <a:rPr lang="en-US" sz="1200" b="1" dirty="0">
                <a:solidFill>
                  <a:srgbClr val="26375C"/>
                </a:solidFill>
                <a:latin typeface="Calibri" pitchFamily="34" charset="0"/>
                <a:ea typeface="Calibri" pitchFamily="34" charset="-122"/>
                <a:cs typeface="Calibri" pitchFamily="34" charset="-120"/>
              </a:rPr>
              <a:t>:feature:mypage</a:t>
            </a:r>
            <a:endParaRPr lang="en-US" sz="1200" dirty="0"/>
          </a:p>
        </p:txBody>
      </p:sp>
      <p:sp>
        <p:nvSpPr>
          <p:cNvPr id="24" name="Shape 22"/>
          <p:cNvSpPr/>
          <p:nvPr/>
        </p:nvSpPr>
        <p:spPr>
          <a:xfrm>
            <a:off x="640080" y="4315968"/>
            <a:ext cx="10881360" cy="1298448"/>
          </a:xfrm>
          <a:prstGeom prst="roundRect">
            <a:avLst>
              <a:gd name="adj" fmla="val 5634"/>
            </a:avLst>
          </a:prstGeom>
          <a:solidFill>
            <a:srgbClr val="1B2A4A"/>
          </a:solidFill>
          <a:ln/>
          <a:effectLst>
            <a:outerShdw blurRad="88900" dist="38100" dir="5400000" algn="bl" rotWithShape="0">
              <a:srgbClr val="000000">
                <a:alpha val="12000"/>
              </a:srgbClr>
            </a:outerShdw>
          </a:effectLst>
        </p:spPr>
        <p:txBody>
          <a:bodyPr/>
          <a:lstStyle/>
          <a:p>
            <a:endParaRPr lang="ko-KR" altLang="en-US"/>
          </a:p>
        </p:txBody>
      </p:sp>
      <p:sp>
        <p:nvSpPr>
          <p:cNvPr id="25" name="Text 23"/>
          <p:cNvSpPr/>
          <p:nvPr/>
        </p:nvSpPr>
        <p:spPr>
          <a:xfrm>
            <a:off x="868680" y="4425696"/>
            <a:ext cx="10424160" cy="32004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CORE </a:t>
            </a:r>
            <a:r>
              <a:rPr lang="en-US" sz="1250" b="1" dirty="0" err="1">
                <a:solidFill>
                  <a:srgbClr val="FFFFFF"/>
                </a:solidFill>
                <a:latin typeface="Calibri" pitchFamily="34" charset="0"/>
                <a:ea typeface="Calibri" pitchFamily="34" charset="-122"/>
                <a:cs typeface="Calibri" pitchFamily="34" charset="-120"/>
              </a:rPr>
              <a:t>계층</a:t>
            </a:r>
            <a:endParaRPr lang="en-US" sz="1250" dirty="0"/>
          </a:p>
        </p:txBody>
      </p:sp>
      <p:sp>
        <p:nvSpPr>
          <p:cNvPr id="26" name="Shape 24"/>
          <p:cNvSpPr/>
          <p:nvPr/>
        </p:nvSpPr>
        <p:spPr>
          <a:xfrm>
            <a:off x="868680" y="4828032"/>
            <a:ext cx="2468880" cy="548640"/>
          </a:xfrm>
          <a:prstGeom prst="roundRect">
            <a:avLst>
              <a:gd name="adj" fmla="val 8333"/>
            </a:avLst>
          </a:prstGeom>
          <a:solidFill>
            <a:srgbClr val="26375C"/>
          </a:solidFill>
          <a:ln/>
        </p:spPr>
        <p:txBody>
          <a:bodyPr/>
          <a:lstStyle/>
          <a:p>
            <a:endParaRPr lang="ko-KR" altLang="en-US"/>
          </a:p>
        </p:txBody>
      </p:sp>
      <p:sp>
        <p:nvSpPr>
          <p:cNvPr id="27" name="Text 25"/>
          <p:cNvSpPr/>
          <p:nvPr/>
        </p:nvSpPr>
        <p:spPr>
          <a:xfrm>
            <a:off x="868680" y="4828032"/>
            <a:ext cx="2468880" cy="5486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:core:model</a:t>
            </a:r>
            <a:endParaRPr lang="en-US" sz="1250" dirty="0"/>
          </a:p>
        </p:txBody>
      </p:sp>
      <p:sp>
        <p:nvSpPr>
          <p:cNvPr id="28" name="Shape 26"/>
          <p:cNvSpPr/>
          <p:nvPr/>
        </p:nvSpPr>
        <p:spPr>
          <a:xfrm>
            <a:off x="3520440" y="4828032"/>
            <a:ext cx="2468880" cy="548640"/>
          </a:xfrm>
          <a:prstGeom prst="roundRect">
            <a:avLst>
              <a:gd name="adj" fmla="val 8333"/>
            </a:avLst>
          </a:prstGeom>
          <a:solidFill>
            <a:srgbClr val="26375C"/>
          </a:solidFill>
          <a:ln/>
        </p:spPr>
        <p:txBody>
          <a:bodyPr/>
          <a:lstStyle/>
          <a:p>
            <a:endParaRPr lang="ko-KR" altLang="en-US"/>
          </a:p>
        </p:txBody>
      </p:sp>
      <p:sp>
        <p:nvSpPr>
          <p:cNvPr id="29" name="Text 27"/>
          <p:cNvSpPr/>
          <p:nvPr/>
        </p:nvSpPr>
        <p:spPr>
          <a:xfrm>
            <a:off x="3520440" y="4828032"/>
            <a:ext cx="2468880" cy="5486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:core:common</a:t>
            </a:r>
            <a:endParaRPr lang="en-US" sz="1250" dirty="0"/>
          </a:p>
        </p:txBody>
      </p:sp>
      <p:sp>
        <p:nvSpPr>
          <p:cNvPr id="30" name="Shape 28"/>
          <p:cNvSpPr/>
          <p:nvPr/>
        </p:nvSpPr>
        <p:spPr>
          <a:xfrm>
            <a:off x="6172200" y="4828032"/>
            <a:ext cx="2468880" cy="548640"/>
          </a:xfrm>
          <a:prstGeom prst="roundRect">
            <a:avLst>
              <a:gd name="adj" fmla="val 8333"/>
            </a:avLst>
          </a:prstGeom>
          <a:solidFill>
            <a:srgbClr val="26375C"/>
          </a:solidFill>
          <a:ln/>
        </p:spPr>
        <p:txBody>
          <a:bodyPr/>
          <a:lstStyle/>
          <a:p>
            <a:endParaRPr lang="ko-KR" altLang="en-US"/>
          </a:p>
        </p:txBody>
      </p:sp>
      <p:sp>
        <p:nvSpPr>
          <p:cNvPr id="31" name="Text 29"/>
          <p:cNvSpPr/>
          <p:nvPr/>
        </p:nvSpPr>
        <p:spPr>
          <a:xfrm>
            <a:off x="6172200" y="4828032"/>
            <a:ext cx="2468880" cy="5486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:core:designsystem</a:t>
            </a:r>
            <a:endParaRPr lang="en-US" sz="1250" dirty="0"/>
          </a:p>
        </p:txBody>
      </p:sp>
      <p:sp>
        <p:nvSpPr>
          <p:cNvPr id="32" name="Shape 30"/>
          <p:cNvSpPr/>
          <p:nvPr/>
        </p:nvSpPr>
        <p:spPr>
          <a:xfrm>
            <a:off x="8823960" y="4828032"/>
            <a:ext cx="2468880" cy="548640"/>
          </a:xfrm>
          <a:prstGeom prst="roundRect">
            <a:avLst>
              <a:gd name="adj" fmla="val 8333"/>
            </a:avLst>
          </a:prstGeom>
          <a:solidFill>
            <a:srgbClr val="26375C"/>
          </a:solidFill>
          <a:ln/>
        </p:spPr>
        <p:txBody>
          <a:bodyPr/>
          <a:lstStyle/>
          <a:p>
            <a:endParaRPr lang="ko-KR" altLang="en-US"/>
          </a:p>
        </p:txBody>
      </p:sp>
      <p:sp>
        <p:nvSpPr>
          <p:cNvPr id="33" name="Text 31"/>
          <p:cNvSpPr/>
          <p:nvPr/>
        </p:nvSpPr>
        <p:spPr>
          <a:xfrm>
            <a:off x="8823960" y="4828032"/>
            <a:ext cx="2468880" cy="5486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:core:data</a:t>
            </a:r>
            <a:endParaRPr lang="en-US" sz="1250" dirty="0"/>
          </a:p>
        </p:txBody>
      </p:sp>
      <p:sp>
        <p:nvSpPr>
          <p:cNvPr id="34" name="Text 32"/>
          <p:cNvSpPr/>
          <p:nvPr/>
        </p:nvSpPr>
        <p:spPr>
          <a:xfrm>
            <a:off x="640080" y="5806440"/>
            <a:ext cx="10972800" cy="411480"/>
          </a:xfrm>
          <a:prstGeom prst="rect">
            <a:avLst/>
          </a:prstGeom>
          <a:noFill/>
          <a:ln/>
        </p:spPr>
        <p:txBody>
          <a:bodyPr wrap="square" lIns="0" tIns="0" rIns="0" bIns="0" rtlCol="0" anchor="ctr"/>
          <a:lstStyle/>
          <a:p>
            <a:pPr marL="0" indent="0" algn="ctr">
              <a:buNone/>
            </a:pPr>
            <a:r>
              <a:rPr lang="en-US" sz="1300" b="1" dirty="0">
                <a:solidFill>
                  <a:srgbClr val="FF6B6B"/>
                </a:solidFill>
                <a:latin typeface="Calibri" pitchFamily="34" charset="0"/>
                <a:ea typeface="Calibri" pitchFamily="34" charset="-122"/>
                <a:cs typeface="Calibri" pitchFamily="34" charset="-120"/>
              </a:rPr>
              <a:t>단방향 의존성</a:t>
            </a:r>
            <a:r>
              <a:rPr lang="en-US" sz="1300" dirty="0">
                <a:solidFill>
                  <a:srgbClr val="64748B"/>
                </a:solidFill>
                <a:latin typeface="Calibri" pitchFamily="34" charset="0"/>
                <a:ea typeface="Calibri" pitchFamily="34" charset="-122"/>
                <a:cs typeface="Calibri" pitchFamily="34" charset="-120"/>
              </a:rPr>
              <a:t>   ·   feature끼리 직접 참조하지 않음   ·   순환 참조 없음   →   유지보수·빌드 속도·재사용성 확보</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640080" y="548640"/>
            <a:ext cx="7315200" cy="320040"/>
          </a:xfrm>
          <a:prstGeom prst="rect">
            <a:avLst/>
          </a:prstGeom>
          <a:noFill/>
          <a:ln/>
        </p:spPr>
        <p:txBody>
          <a:bodyPr wrap="square" lIns="0" tIns="0" rIns="0" bIns="0" rtlCol="0" anchor="ctr"/>
          <a:lstStyle/>
          <a:p>
            <a:pPr marL="0" indent="0">
              <a:buNone/>
            </a:pPr>
            <a:r>
              <a:rPr lang="en-US" sz="1200" b="1" kern="0" spc="300" dirty="0">
                <a:solidFill>
                  <a:srgbClr val="FF6B6B"/>
                </a:solidFill>
                <a:latin typeface="Calibri" pitchFamily="34" charset="0"/>
                <a:ea typeface="Calibri" pitchFamily="34" charset="-122"/>
                <a:cs typeface="Calibri" pitchFamily="34" charset="-120"/>
              </a:rPr>
              <a:t>03  IMPROVEMENTS &amp; TECH</a:t>
            </a:r>
            <a:endParaRPr lang="en-US" sz="1200" dirty="0"/>
          </a:p>
        </p:txBody>
      </p:sp>
      <p:sp>
        <p:nvSpPr>
          <p:cNvPr id="3" name="Text 1"/>
          <p:cNvSpPr/>
          <p:nvPr/>
        </p:nvSpPr>
        <p:spPr>
          <a:xfrm>
            <a:off x="640080" y="868680"/>
            <a:ext cx="10972800" cy="777240"/>
          </a:xfrm>
          <a:prstGeom prst="rect">
            <a:avLst/>
          </a:prstGeom>
          <a:noFill/>
          <a:ln/>
        </p:spPr>
        <p:txBody>
          <a:bodyPr wrap="square" lIns="0" tIns="0" rIns="0" bIns="0" rtlCol="0" anchor="ctr"/>
          <a:lstStyle/>
          <a:p>
            <a:pPr marL="0" indent="0">
              <a:buNone/>
            </a:pPr>
            <a:r>
              <a:rPr lang="en-US" sz="3000" b="1" dirty="0" err="1">
                <a:solidFill>
                  <a:srgbClr val="FFFFFF"/>
                </a:solidFill>
                <a:latin typeface="Bookman Old Style" pitchFamily="34" charset="0"/>
                <a:ea typeface="Bookman Old Style" pitchFamily="34" charset="-122"/>
                <a:cs typeface="Bookman Old Style" pitchFamily="34" charset="-120"/>
              </a:rPr>
              <a:t>나만의</a:t>
            </a:r>
            <a:r>
              <a:rPr lang="en-US" sz="3000" b="1" dirty="0">
                <a:solidFill>
                  <a:srgbClr val="FFFFFF"/>
                </a:solidFill>
                <a:latin typeface="Bookman Old Style" pitchFamily="34" charset="0"/>
                <a:ea typeface="Bookman Old Style" pitchFamily="34" charset="-122"/>
                <a:cs typeface="Bookman Old Style" pitchFamily="34" charset="-120"/>
              </a:rPr>
              <a:t> </a:t>
            </a:r>
            <a:r>
              <a:rPr lang="en-US" sz="3000" b="1" dirty="0" err="1">
                <a:solidFill>
                  <a:srgbClr val="FFFFFF"/>
                </a:solidFill>
                <a:latin typeface="Bookman Old Style" pitchFamily="34" charset="0"/>
                <a:ea typeface="Bookman Old Style" pitchFamily="34" charset="-122"/>
                <a:cs typeface="Bookman Old Style" pitchFamily="34" charset="-120"/>
              </a:rPr>
              <a:t>개선점</a:t>
            </a:r>
            <a:endParaRPr lang="en-US" sz="3000" dirty="0"/>
          </a:p>
        </p:txBody>
      </p:sp>
      <p:sp>
        <p:nvSpPr>
          <p:cNvPr id="4" name="Text 2"/>
          <p:cNvSpPr/>
          <p:nvPr/>
        </p:nvSpPr>
        <p:spPr>
          <a:xfrm>
            <a:off x="640080" y="1737360"/>
            <a:ext cx="7315200" cy="365760"/>
          </a:xfrm>
          <a:prstGeom prst="rect">
            <a:avLst/>
          </a:prstGeom>
          <a:noFill/>
          <a:ln/>
        </p:spPr>
        <p:txBody>
          <a:bodyPr wrap="square" lIns="0" tIns="0" rIns="0" bIns="0" rtlCol="0" anchor="ctr"/>
          <a:lstStyle/>
          <a:p>
            <a:pPr marL="0" indent="0">
              <a:buNone/>
            </a:pPr>
            <a:r>
              <a:rPr lang="en-US" sz="1400" b="1" dirty="0">
                <a:solidFill>
                  <a:srgbClr val="FF8E8E"/>
                </a:solidFill>
                <a:latin typeface="Calibri" pitchFamily="34" charset="0"/>
                <a:ea typeface="Calibri" pitchFamily="34" charset="-122"/>
                <a:cs typeface="Calibri" pitchFamily="34" charset="-120"/>
              </a:rPr>
              <a:t>벤치마킹 + </a:t>
            </a:r>
            <a:r>
              <a:rPr lang="en-US" sz="1400" b="1" dirty="0" err="1">
                <a:solidFill>
                  <a:srgbClr val="FF8E8E"/>
                </a:solidFill>
                <a:latin typeface="Calibri" pitchFamily="34" charset="0"/>
                <a:ea typeface="Calibri" pitchFamily="34" charset="-122"/>
                <a:cs typeface="Calibri" pitchFamily="34" charset="-120"/>
              </a:rPr>
              <a:t>개선</a:t>
            </a:r>
            <a:r>
              <a:rPr lang="en-US" sz="1400" b="1" dirty="0">
                <a:solidFill>
                  <a:srgbClr val="FF8E8E"/>
                </a:solidFill>
                <a:latin typeface="Calibri" pitchFamily="34" charset="0"/>
                <a:ea typeface="Calibri" pitchFamily="34" charset="-122"/>
                <a:cs typeface="Calibri" pitchFamily="34" charset="-120"/>
              </a:rPr>
              <a:t> </a:t>
            </a:r>
            <a:r>
              <a:rPr lang="en-US" sz="1400" b="1" dirty="0" err="1">
                <a:solidFill>
                  <a:srgbClr val="FF8E8E"/>
                </a:solidFill>
                <a:latin typeface="Calibri" pitchFamily="34" charset="0"/>
                <a:ea typeface="Calibri" pitchFamily="34" charset="-122"/>
                <a:cs typeface="Calibri" pitchFamily="34" charset="-120"/>
              </a:rPr>
              <a:t>기능</a:t>
            </a:r>
            <a:endParaRPr lang="en-US" sz="1400" dirty="0"/>
          </a:p>
        </p:txBody>
      </p:sp>
      <p:sp>
        <p:nvSpPr>
          <p:cNvPr id="5" name="Shape 3"/>
          <p:cNvSpPr/>
          <p:nvPr/>
        </p:nvSpPr>
        <p:spPr>
          <a:xfrm>
            <a:off x="640080" y="2682247"/>
            <a:ext cx="3474720" cy="713232"/>
          </a:xfrm>
          <a:prstGeom prst="roundRect">
            <a:avLst>
              <a:gd name="adj" fmla="val 11538"/>
            </a:avLst>
          </a:prstGeom>
          <a:solidFill>
            <a:srgbClr val="26375C"/>
          </a:solidFill>
          <a:ln/>
          <a:effectLst>
            <a:outerShdw blurRad="88900" dist="38100" dir="5400000" algn="bl" rotWithShape="0">
              <a:srgbClr val="000000">
                <a:alpha val="12000"/>
              </a:srgbClr>
            </a:outerShdw>
          </a:effectLst>
        </p:spPr>
        <p:txBody>
          <a:bodyPr/>
          <a:lstStyle/>
          <a:p>
            <a:endParaRPr lang="ko-KR" altLang="en-US"/>
          </a:p>
        </p:txBody>
      </p:sp>
      <p:sp>
        <p:nvSpPr>
          <p:cNvPr id="6" name="Shape 4"/>
          <p:cNvSpPr/>
          <p:nvPr/>
        </p:nvSpPr>
        <p:spPr>
          <a:xfrm>
            <a:off x="841248" y="2837695"/>
            <a:ext cx="402336" cy="402336"/>
          </a:xfrm>
          <a:prstGeom prst="ellipse">
            <a:avLst/>
          </a:prstGeom>
          <a:solidFill>
            <a:srgbClr val="FF6B6B"/>
          </a:solidFill>
          <a:ln/>
        </p:spPr>
        <p:txBody>
          <a:bodyPr/>
          <a:lstStyle/>
          <a:p>
            <a:endParaRPr lang="ko-KR" altLang="en-US"/>
          </a:p>
        </p:txBody>
      </p:sp>
      <p:pic>
        <p:nvPicPr>
          <p:cNvPr id="7" name="Image 0" descr="preencoded.png"/>
          <p:cNvPicPr>
            <a:picLocks noChangeAspect="1"/>
          </p:cNvPicPr>
          <p:nvPr/>
        </p:nvPicPr>
        <p:blipFill>
          <a:blip r:embed="rId3"/>
          <a:stretch>
            <a:fillRect/>
          </a:stretch>
        </p:blipFill>
        <p:spPr>
          <a:xfrm>
            <a:off x="941832" y="2938279"/>
            <a:ext cx="201168" cy="201168"/>
          </a:xfrm>
          <a:prstGeom prst="rect">
            <a:avLst/>
          </a:prstGeom>
        </p:spPr>
      </p:pic>
      <p:sp>
        <p:nvSpPr>
          <p:cNvPr id="8" name="Text 5"/>
          <p:cNvSpPr/>
          <p:nvPr/>
        </p:nvSpPr>
        <p:spPr>
          <a:xfrm>
            <a:off x="1389888" y="2682247"/>
            <a:ext cx="2651760" cy="71323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찜 가격 알림</a:t>
            </a:r>
            <a:endParaRPr lang="en-US" sz="1400" dirty="0"/>
          </a:p>
        </p:txBody>
      </p:sp>
      <p:sp>
        <p:nvSpPr>
          <p:cNvPr id="9" name="Shape 6"/>
          <p:cNvSpPr/>
          <p:nvPr/>
        </p:nvSpPr>
        <p:spPr>
          <a:xfrm>
            <a:off x="4343400" y="2682247"/>
            <a:ext cx="3474720" cy="713232"/>
          </a:xfrm>
          <a:prstGeom prst="roundRect">
            <a:avLst>
              <a:gd name="adj" fmla="val 11538"/>
            </a:avLst>
          </a:prstGeom>
          <a:solidFill>
            <a:srgbClr val="26375C"/>
          </a:solidFill>
          <a:ln/>
          <a:effectLst>
            <a:outerShdw blurRad="88900" dist="38100" dir="5400000" algn="bl" rotWithShape="0">
              <a:srgbClr val="000000">
                <a:alpha val="12000"/>
              </a:srgbClr>
            </a:outerShdw>
          </a:effectLst>
        </p:spPr>
        <p:txBody>
          <a:bodyPr/>
          <a:lstStyle/>
          <a:p>
            <a:endParaRPr lang="ko-KR" altLang="en-US"/>
          </a:p>
        </p:txBody>
      </p:sp>
      <p:sp>
        <p:nvSpPr>
          <p:cNvPr id="10" name="Shape 7"/>
          <p:cNvSpPr/>
          <p:nvPr/>
        </p:nvSpPr>
        <p:spPr>
          <a:xfrm>
            <a:off x="4544568" y="2837695"/>
            <a:ext cx="402336" cy="402336"/>
          </a:xfrm>
          <a:prstGeom prst="ellipse">
            <a:avLst/>
          </a:prstGeom>
          <a:solidFill>
            <a:srgbClr val="FF6B6B"/>
          </a:solidFill>
          <a:ln/>
        </p:spPr>
        <p:txBody>
          <a:bodyPr/>
          <a:lstStyle/>
          <a:p>
            <a:endParaRPr lang="ko-KR" altLang="en-US"/>
          </a:p>
        </p:txBody>
      </p:sp>
      <p:pic>
        <p:nvPicPr>
          <p:cNvPr id="11" name="Image 1" descr="preencoded.png"/>
          <p:cNvPicPr>
            <a:picLocks noChangeAspect="1"/>
          </p:cNvPicPr>
          <p:nvPr/>
        </p:nvPicPr>
        <p:blipFill>
          <a:blip r:embed="rId4"/>
          <a:stretch>
            <a:fillRect/>
          </a:stretch>
        </p:blipFill>
        <p:spPr>
          <a:xfrm>
            <a:off x="4645152" y="2938279"/>
            <a:ext cx="201168" cy="201168"/>
          </a:xfrm>
          <a:prstGeom prst="rect">
            <a:avLst/>
          </a:prstGeom>
        </p:spPr>
      </p:pic>
      <p:sp>
        <p:nvSpPr>
          <p:cNvPr id="12" name="Text 8"/>
          <p:cNvSpPr/>
          <p:nvPr/>
        </p:nvSpPr>
        <p:spPr>
          <a:xfrm>
            <a:off x="5093208" y="2682247"/>
            <a:ext cx="2651760" cy="71323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맞춤 추천</a:t>
            </a:r>
            <a:endParaRPr lang="en-US" sz="1400" dirty="0"/>
          </a:p>
        </p:txBody>
      </p:sp>
      <p:sp>
        <p:nvSpPr>
          <p:cNvPr id="13" name="Shape 9"/>
          <p:cNvSpPr/>
          <p:nvPr/>
        </p:nvSpPr>
        <p:spPr>
          <a:xfrm>
            <a:off x="8046720" y="2682247"/>
            <a:ext cx="3474720" cy="713232"/>
          </a:xfrm>
          <a:prstGeom prst="roundRect">
            <a:avLst>
              <a:gd name="adj" fmla="val 11538"/>
            </a:avLst>
          </a:prstGeom>
          <a:solidFill>
            <a:srgbClr val="26375C"/>
          </a:solidFill>
          <a:ln/>
          <a:effectLst>
            <a:outerShdw blurRad="88900" dist="38100" dir="5400000" algn="bl" rotWithShape="0">
              <a:srgbClr val="000000">
                <a:alpha val="12000"/>
              </a:srgbClr>
            </a:outerShdw>
          </a:effectLst>
        </p:spPr>
        <p:txBody>
          <a:bodyPr/>
          <a:lstStyle/>
          <a:p>
            <a:endParaRPr lang="ko-KR" altLang="en-US"/>
          </a:p>
        </p:txBody>
      </p:sp>
      <p:sp>
        <p:nvSpPr>
          <p:cNvPr id="14" name="Shape 10"/>
          <p:cNvSpPr/>
          <p:nvPr/>
        </p:nvSpPr>
        <p:spPr>
          <a:xfrm>
            <a:off x="8247888" y="2837695"/>
            <a:ext cx="402336" cy="402336"/>
          </a:xfrm>
          <a:prstGeom prst="ellipse">
            <a:avLst/>
          </a:prstGeom>
          <a:solidFill>
            <a:srgbClr val="FF6B6B"/>
          </a:solidFill>
          <a:ln/>
        </p:spPr>
        <p:txBody>
          <a:bodyPr/>
          <a:lstStyle/>
          <a:p>
            <a:endParaRPr lang="ko-KR" altLang="en-US"/>
          </a:p>
        </p:txBody>
      </p:sp>
      <p:pic>
        <p:nvPicPr>
          <p:cNvPr id="15" name="Image 2" descr="preencoded.png"/>
          <p:cNvPicPr>
            <a:picLocks noChangeAspect="1"/>
          </p:cNvPicPr>
          <p:nvPr/>
        </p:nvPicPr>
        <p:blipFill>
          <a:blip r:embed="rId5"/>
          <a:stretch>
            <a:fillRect/>
          </a:stretch>
        </p:blipFill>
        <p:spPr>
          <a:xfrm>
            <a:off x="8348472" y="2938279"/>
            <a:ext cx="201168" cy="201168"/>
          </a:xfrm>
          <a:prstGeom prst="rect">
            <a:avLst/>
          </a:prstGeom>
        </p:spPr>
      </p:pic>
      <p:sp>
        <p:nvSpPr>
          <p:cNvPr id="16" name="Text 11"/>
          <p:cNvSpPr/>
          <p:nvPr/>
        </p:nvSpPr>
        <p:spPr>
          <a:xfrm>
            <a:off x="8796528" y="2682247"/>
            <a:ext cx="2651760" cy="71323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쿠폰·적립 계산</a:t>
            </a:r>
            <a:endParaRPr lang="en-US" sz="1400" dirty="0"/>
          </a:p>
        </p:txBody>
      </p:sp>
      <p:sp>
        <p:nvSpPr>
          <p:cNvPr id="17" name="Shape 12"/>
          <p:cNvSpPr/>
          <p:nvPr/>
        </p:nvSpPr>
        <p:spPr>
          <a:xfrm>
            <a:off x="640080" y="4046003"/>
            <a:ext cx="3474720" cy="713232"/>
          </a:xfrm>
          <a:prstGeom prst="roundRect">
            <a:avLst>
              <a:gd name="adj" fmla="val 11538"/>
            </a:avLst>
          </a:prstGeom>
          <a:solidFill>
            <a:srgbClr val="26375C"/>
          </a:solidFill>
          <a:ln/>
          <a:effectLst>
            <a:outerShdw blurRad="88900" dist="38100" dir="5400000" algn="bl" rotWithShape="0">
              <a:srgbClr val="000000">
                <a:alpha val="12000"/>
              </a:srgbClr>
            </a:outerShdw>
          </a:effectLst>
        </p:spPr>
        <p:txBody>
          <a:bodyPr/>
          <a:lstStyle/>
          <a:p>
            <a:endParaRPr lang="ko-KR" altLang="en-US"/>
          </a:p>
        </p:txBody>
      </p:sp>
      <p:sp>
        <p:nvSpPr>
          <p:cNvPr id="18" name="Shape 13"/>
          <p:cNvSpPr/>
          <p:nvPr/>
        </p:nvSpPr>
        <p:spPr>
          <a:xfrm>
            <a:off x="841248" y="4201451"/>
            <a:ext cx="402336" cy="402336"/>
          </a:xfrm>
          <a:prstGeom prst="ellipse">
            <a:avLst/>
          </a:prstGeom>
          <a:solidFill>
            <a:srgbClr val="FF6B6B"/>
          </a:solidFill>
          <a:ln/>
        </p:spPr>
        <p:txBody>
          <a:bodyPr/>
          <a:lstStyle/>
          <a:p>
            <a:endParaRPr lang="ko-KR" altLang="en-US"/>
          </a:p>
        </p:txBody>
      </p:sp>
      <p:pic>
        <p:nvPicPr>
          <p:cNvPr id="19" name="Image 3" descr="preencoded.png"/>
          <p:cNvPicPr>
            <a:picLocks noChangeAspect="1"/>
          </p:cNvPicPr>
          <p:nvPr/>
        </p:nvPicPr>
        <p:blipFill>
          <a:blip r:embed="rId6"/>
          <a:stretch>
            <a:fillRect/>
          </a:stretch>
        </p:blipFill>
        <p:spPr>
          <a:xfrm>
            <a:off x="941832" y="4302035"/>
            <a:ext cx="201168" cy="201168"/>
          </a:xfrm>
          <a:prstGeom prst="rect">
            <a:avLst/>
          </a:prstGeom>
        </p:spPr>
      </p:pic>
      <p:sp>
        <p:nvSpPr>
          <p:cNvPr id="20" name="Text 14"/>
          <p:cNvSpPr/>
          <p:nvPr/>
        </p:nvSpPr>
        <p:spPr>
          <a:xfrm>
            <a:off x="1389888" y="4046003"/>
            <a:ext cx="2651760" cy="71323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상품 비교</a:t>
            </a:r>
            <a:endParaRPr lang="en-US" sz="1400" dirty="0"/>
          </a:p>
        </p:txBody>
      </p:sp>
      <p:sp>
        <p:nvSpPr>
          <p:cNvPr id="21" name="Shape 15"/>
          <p:cNvSpPr/>
          <p:nvPr/>
        </p:nvSpPr>
        <p:spPr>
          <a:xfrm>
            <a:off x="4343400" y="4046003"/>
            <a:ext cx="3474720" cy="713232"/>
          </a:xfrm>
          <a:prstGeom prst="roundRect">
            <a:avLst>
              <a:gd name="adj" fmla="val 11538"/>
            </a:avLst>
          </a:prstGeom>
          <a:solidFill>
            <a:srgbClr val="26375C"/>
          </a:solidFill>
          <a:ln/>
          <a:effectLst>
            <a:outerShdw blurRad="88900" dist="38100" dir="5400000" algn="bl" rotWithShape="0">
              <a:srgbClr val="000000">
                <a:alpha val="12000"/>
              </a:srgbClr>
            </a:outerShdw>
          </a:effectLst>
        </p:spPr>
        <p:txBody>
          <a:bodyPr/>
          <a:lstStyle/>
          <a:p>
            <a:endParaRPr lang="ko-KR" altLang="en-US"/>
          </a:p>
        </p:txBody>
      </p:sp>
      <p:sp>
        <p:nvSpPr>
          <p:cNvPr id="22" name="Shape 16"/>
          <p:cNvSpPr/>
          <p:nvPr/>
        </p:nvSpPr>
        <p:spPr>
          <a:xfrm>
            <a:off x="4544568" y="4201451"/>
            <a:ext cx="402336" cy="402336"/>
          </a:xfrm>
          <a:prstGeom prst="ellipse">
            <a:avLst/>
          </a:prstGeom>
          <a:solidFill>
            <a:srgbClr val="FF6B6B"/>
          </a:solidFill>
          <a:ln/>
        </p:spPr>
        <p:txBody>
          <a:bodyPr/>
          <a:lstStyle/>
          <a:p>
            <a:endParaRPr lang="ko-KR" altLang="en-US"/>
          </a:p>
        </p:txBody>
      </p:sp>
      <p:pic>
        <p:nvPicPr>
          <p:cNvPr id="23" name="Image 4" descr="preencoded.png"/>
          <p:cNvPicPr>
            <a:picLocks noChangeAspect="1"/>
          </p:cNvPicPr>
          <p:nvPr/>
        </p:nvPicPr>
        <p:blipFill>
          <a:blip r:embed="rId7"/>
          <a:stretch>
            <a:fillRect/>
          </a:stretch>
        </p:blipFill>
        <p:spPr>
          <a:xfrm>
            <a:off x="4645152" y="4302035"/>
            <a:ext cx="201168" cy="201168"/>
          </a:xfrm>
          <a:prstGeom prst="rect">
            <a:avLst/>
          </a:prstGeom>
        </p:spPr>
      </p:pic>
      <p:sp>
        <p:nvSpPr>
          <p:cNvPr id="24" name="Text 17"/>
          <p:cNvSpPr/>
          <p:nvPr/>
        </p:nvSpPr>
        <p:spPr>
          <a:xfrm>
            <a:off x="5093208" y="4046003"/>
            <a:ext cx="2651760" cy="71323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배송 타임라인</a:t>
            </a:r>
            <a:endParaRPr lang="en-US" sz="1400" dirty="0"/>
          </a:p>
        </p:txBody>
      </p:sp>
      <p:sp>
        <p:nvSpPr>
          <p:cNvPr id="25" name="Shape 18"/>
          <p:cNvSpPr/>
          <p:nvPr/>
        </p:nvSpPr>
        <p:spPr>
          <a:xfrm>
            <a:off x="8046720" y="4046003"/>
            <a:ext cx="3474720" cy="713232"/>
          </a:xfrm>
          <a:prstGeom prst="roundRect">
            <a:avLst>
              <a:gd name="adj" fmla="val 11538"/>
            </a:avLst>
          </a:prstGeom>
          <a:solidFill>
            <a:srgbClr val="26375C"/>
          </a:solidFill>
          <a:ln/>
          <a:effectLst>
            <a:outerShdw blurRad="88900" dist="38100" dir="5400000" algn="bl" rotWithShape="0">
              <a:srgbClr val="000000">
                <a:alpha val="12000"/>
              </a:srgbClr>
            </a:outerShdw>
          </a:effectLst>
        </p:spPr>
        <p:txBody>
          <a:bodyPr/>
          <a:lstStyle/>
          <a:p>
            <a:endParaRPr lang="ko-KR" altLang="en-US"/>
          </a:p>
        </p:txBody>
      </p:sp>
      <p:sp>
        <p:nvSpPr>
          <p:cNvPr id="26" name="Shape 19"/>
          <p:cNvSpPr/>
          <p:nvPr/>
        </p:nvSpPr>
        <p:spPr>
          <a:xfrm>
            <a:off x="8247888" y="4201451"/>
            <a:ext cx="402336" cy="402336"/>
          </a:xfrm>
          <a:prstGeom prst="ellipse">
            <a:avLst/>
          </a:prstGeom>
          <a:solidFill>
            <a:srgbClr val="FF6B6B"/>
          </a:solidFill>
          <a:ln/>
        </p:spPr>
        <p:txBody>
          <a:bodyPr/>
          <a:lstStyle/>
          <a:p>
            <a:endParaRPr lang="ko-KR" altLang="en-US"/>
          </a:p>
        </p:txBody>
      </p:sp>
      <p:pic>
        <p:nvPicPr>
          <p:cNvPr id="27" name="Image 5" descr="preencoded.png"/>
          <p:cNvPicPr>
            <a:picLocks noChangeAspect="1"/>
          </p:cNvPicPr>
          <p:nvPr/>
        </p:nvPicPr>
        <p:blipFill>
          <a:blip r:embed="rId8"/>
          <a:stretch>
            <a:fillRect/>
          </a:stretch>
        </p:blipFill>
        <p:spPr>
          <a:xfrm>
            <a:off x="8348472" y="4302035"/>
            <a:ext cx="201168" cy="201168"/>
          </a:xfrm>
          <a:prstGeom prst="rect">
            <a:avLst/>
          </a:prstGeom>
        </p:spPr>
      </p:pic>
      <p:sp>
        <p:nvSpPr>
          <p:cNvPr id="28" name="Text 20"/>
          <p:cNvSpPr/>
          <p:nvPr/>
        </p:nvSpPr>
        <p:spPr>
          <a:xfrm>
            <a:off x="8796528" y="4046003"/>
            <a:ext cx="2651760" cy="71323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다크모드</a:t>
            </a:r>
            <a:endParaRPr lang="en-US" sz="1400" dirty="0"/>
          </a:p>
        </p:txBody>
      </p:sp>
      <p:sp>
        <p:nvSpPr>
          <p:cNvPr id="54" name="Text 32">
            <a:extLst>
              <a:ext uri="{FF2B5EF4-FFF2-40B4-BE49-F238E27FC236}">
                <a16:creationId xmlns:a16="http://schemas.microsoft.com/office/drawing/2014/main" id="{FEB1A771-5D43-6A58-694E-93B4F759E32E}"/>
              </a:ext>
            </a:extLst>
          </p:cNvPr>
          <p:cNvSpPr/>
          <p:nvPr/>
        </p:nvSpPr>
        <p:spPr>
          <a:xfrm>
            <a:off x="640080" y="5806440"/>
            <a:ext cx="10972800" cy="411480"/>
          </a:xfrm>
          <a:prstGeom prst="rect">
            <a:avLst/>
          </a:prstGeom>
          <a:noFill/>
          <a:ln/>
        </p:spPr>
        <p:txBody>
          <a:bodyPr wrap="square" lIns="0" tIns="0" rIns="0" bIns="0" rtlCol="0" anchor="ctr"/>
          <a:lstStyle/>
          <a:p>
            <a:pPr algn="ctr"/>
            <a:r>
              <a:rPr lang="en-US" sz="1300" b="1" dirty="0">
                <a:solidFill>
                  <a:srgbClr val="FF6B6B"/>
                </a:solidFill>
                <a:latin typeface="Calibri" pitchFamily="34" charset="0"/>
                <a:ea typeface="Calibri" pitchFamily="34" charset="-122"/>
                <a:cs typeface="Calibri" pitchFamily="34" charset="-120"/>
              </a:rPr>
              <a:t> </a:t>
            </a:r>
            <a:r>
              <a:rPr lang="ko-KR" altLang="ko-KR" sz="1400" b="1" dirty="0">
                <a:solidFill>
                  <a:srgbClr val="FF6B6B"/>
                </a:solidFill>
              </a:rPr>
              <a:t>무신사를 벤치마킹했지만, </a:t>
            </a:r>
            <a:r>
              <a:rPr lang="ko-KR" altLang="en-US" sz="1400" b="1" dirty="0">
                <a:solidFill>
                  <a:srgbClr val="FF6B6B"/>
                </a:solidFill>
              </a:rPr>
              <a:t>나만의 </a:t>
            </a:r>
            <a:r>
              <a:rPr lang="ko-KR" altLang="ko-KR" sz="1400" b="1" dirty="0">
                <a:solidFill>
                  <a:srgbClr val="FF6B6B"/>
                </a:solidFill>
              </a:rPr>
              <a:t>개선점이 더해진 앱</a:t>
            </a:r>
            <a:endParaRPr lang="en-US" sz="13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1645920" y="3657600"/>
            <a:ext cx="4754880" cy="4754880"/>
          </a:xfrm>
          <a:prstGeom prst="ellipse">
            <a:avLst/>
          </a:prstGeom>
          <a:solidFill>
            <a:srgbClr val="26375C"/>
          </a:solidFill>
          <a:ln/>
        </p:spPr>
        <p:txBody>
          <a:bodyPr/>
          <a:lstStyle/>
          <a:p>
            <a:endParaRPr lang="ko-KR" altLang="en-US"/>
          </a:p>
        </p:txBody>
      </p:sp>
      <p:sp>
        <p:nvSpPr>
          <p:cNvPr id="3" name="Shape 1"/>
          <p:cNvSpPr/>
          <p:nvPr/>
        </p:nvSpPr>
        <p:spPr>
          <a:xfrm>
            <a:off x="10058400" y="-1371600"/>
            <a:ext cx="3291840" cy="3291840"/>
          </a:xfrm>
          <a:prstGeom prst="ellipse">
            <a:avLst/>
          </a:prstGeom>
          <a:solidFill>
            <a:srgbClr val="FF6B6B">
              <a:alpha val="45000"/>
            </a:srgbClr>
          </a:solidFill>
          <a:ln/>
        </p:spPr>
        <p:txBody>
          <a:bodyPr/>
          <a:lstStyle/>
          <a:p>
            <a:endParaRPr lang="ko-KR" altLang="en-US"/>
          </a:p>
        </p:txBody>
      </p:sp>
      <p:sp>
        <p:nvSpPr>
          <p:cNvPr id="4" name="Text 2"/>
          <p:cNvSpPr/>
          <p:nvPr/>
        </p:nvSpPr>
        <p:spPr>
          <a:xfrm>
            <a:off x="822960" y="1371600"/>
            <a:ext cx="5486400" cy="365760"/>
          </a:xfrm>
          <a:prstGeom prst="rect">
            <a:avLst/>
          </a:prstGeom>
          <a:noFill/>
          <a:ln/>
        </p:spPr>
        <p:txBody>
          <a:bodyPr wrap="square" lIns="0" tIns="0" rIns="0" bIns="0" rtlCol="0" anchor="ctr"/>
          <a:lstStyle/>
          <a:p>
            <a:pPr marL="0" indent="0">
              <a:buNone/>
            </a:pPr>
            <a:r>
              <a:rPr lang="en-US" sz="1400" b="1" kern="0" spc="300" dirty="0">
                <a:solidFill>
                  <a:srgbClr val="FF6B6B"/>
                </a:solidFill>
                <a:latin typeface="Calibri" pitchFamily="34" charset="0"/>
                <a:ea typeface="Calibri" pitchFamily="34" charset="-122"/>
                <a:cs typeface="Calibri" pitchFamily="34" charset="-120"/>
              </a:rPr>
              <a:t>정리</a:t>
            </a:r>
            <a:endParaRPr lang="en-US" sz="1400" dirty="0"/>
          </a:p>
        </p:txBody>
      </p:sp>
      <p:sp>
        <p:nvSpPr>
          <p:cNvPr id="5" name="Text 3"/>
          <p:cNvSpPr/>
          <p:nvPr/>
        </p:nvSpPr>
        <p:spPr>
          <a:xfrm>
            <a:off x="822960" y="1828800"/>
            <a:ext cx="10515600" cy="777240"/>
          </a:xfrm>
          <a:prstGeom prst="rect">
            <a:avLst/>
          </a:prstGeom>
          <a:noFill/>
          <a:ln/>
        </p:spPr>
        <p:txBody>
          <a:bodyPr wrap="square" lIns="0" tIns="0" rIns="0" bIns="0" rtlCol="0" anchor="ctr"/>
          <a:lstStyle/>
          <a:p>
            <a:pPr marL="0" indent="0">
              <a:buNone/>
            </a:pPr>
            <a:r>
              <a:rPr lang="en-US" sz="3800" b="1" dirty="0" err="1">
                <a:solidFill>
                  <a:srgbClr val="FFFFFF"/>
                </a:solidFill>
                <a:latin typeface="Bookman Old Style" pitchFamily="34" charset="0"/>
                <a:ea typeface="Bookman Old Style" pitchFamily="34" charset="-122"/>
                <a:cs typeface="Bookman Old Style" pitchFamily="34" charset="-120"/>
              </a:rPr>
              <a:t>무신사를</a:t>
            </a:r>
            <a:r>
              <a:rPr lang="en-US" sz="3800" b="1" dirty="0">
                <a:solidFill>
                  <a:srgbClr val="FFFFFF"/>
                </a:solidFill>
                <a:latin typeface="Bookman Old Style" pitchFamily="34" charset="0"/>
                <a:ea typeface="Bookman Old Style" pitchFamily="34" charset="-122"/>
                <a:cs typeface="Bookman Old Style" pitchFamily="34" charset="-120"/>
              </a:rPr>
              <a:t> </a:t>
            </a:r>
            <a:r>
              <a:rPr lang="en-US" sz="3800" b="1" dirty="0" err="1">
                <a:solidFill>
                  <a:srgbClr val="FFFFFF"/>
                </a:solidFill>
                <a:latin typeface="Bookman Old Style" pitchFamily="34" charset="0"/>
                <a:ea typeface="Bookman Old Style" pitchFamily="34" charset="-122"/>
                <a:cs typeface="Bookman Old Style" pitchFamily="34" charset="-120"/>
              </a:rPr>
              <a:t>벤치마킹한</a:t>
            </a:r>
            <a:endParaRPr lang="en-US" sz="3800" dirty="0"/>
          </a:p>
        </p:txBody>
      </p:sp>
      <p:sp>
        <p:nvSpPr>
          <p:cNvPr id="6" name="Text 4"/>
          <p:cNvSpPr/>
          <p:nvPr/>
        </p:nvSpPr>
        <p:spPr>
          <a:xfrm>
            <a:off x="822960" y="2606040"/>
            <a:ext cx="10515600" cy="777240"/>
          </a:xfrm>
          <a:prstGeom prst="rect">
            <a:avLst/>
          </a:prstGeom>
          <a:noFill/>
          <a:ln/>
        </p:spPr>
        <p:txBody>
          <a:bodyPr wrap="square" lIns="0" tIns="0" rIns="0" bIns="0" rtlCol="0" anchor="ctr"/>
          <a:lstStyle/>
          <a:p>
            <a:pPr marL="0" indent="0">
              <a:buNone/>
            </a:pPr>
            <a:r>
              <a:rPr lang="en-US" sz="3800" b="1" dirty="0">
                <a:solidFill>
                  <a:srgbClr val="FFFFFF"/>
                </a:solidFill>
                <a:latin typeface="Bookman Old Style" pitchFamily="34" charset="0"/>
                <a:ea typeface="Bookman Old Style" pitchFamily="34" charset="-122"/>
                <a:cs typeface="Bookman Old Style" pitchFamily="34" charset="-120"/>
              </a:rPr>
              <a:t>멀티모듈 커머스 앱 + 나만의 개선 기능</a:t>
            </a:r>
            <a:endParaRPr lang="en-US" sz="3800" dirty="0"/>
          </a:p>
        </p:txBody>
      </p:sp>
      <p:sp>
        <p:nvSpPr>
          <p:cNvPr id="7" name="Shape 5"/>
          <p:cNvSpPr/>
          <p:nvPr/>
        </p:nvSpPr>
        <p:spPr>
          <a:xfrm>
            <a:off x="868680" y="3749040"/>
            <a:ext cx="1344168" cy="548640"/>
          </a:xfrm>
          <a:prstGeom prst="roundRect">
            <a:avLst>
              <a:gd name="adj" fmla="val 50000"/>
            </a:avLst>
          </a:prstGeom>
          <a:solidFill>
            <a:srgbClr val="26375C"/>
          </a:solidFill>
          <a:ln/>
        </p:spPr>
        <p:txBody>
          <a:bodyPr/>
          <a:lstStyle/>
          <a:p>
            <a:endParaRPr lang="ko-KR" altLang="en-US"/>
          </a:p>
        </p:txBody>
      </p:sp>
      <p:sp>
        <p:nvSpPr>
          <p:cNvPr id="8" name="Text 6"/>
          <p:cNvSpPr/>
          <p:nvPr/>
        </p:nvSpPr>
        <p:spPr>
          <a:xfrm>
            <a:off x="868680" y="3749040"/>
            <a:ext cx="1344168"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벤치마킹</a:t>
            </a:r>
            <a:endParaRPr lang="en-US" sz="1400" dirty="0"/>
          </a:p>
        </p:txBody>
      </p:sp>
      <p:sp>
        <p:nvSpPr>
          <p:cNvPr id="9" name="Shape 7"/>
          <p:cNvSpPr/>
          <p:nvPr/>
        </p:nvSpPr>
        <p:spPr>
          <a:xfrm>
            <a:off x="2532888" y="3749040"/>
            <a:ext cx="2185416" cy="548640"/>
          </a:xfrm>
          <a:prstGeom prst="roundRect">
            <a:avLst>
              <a:gd name="adj" fmla="val 50000"/>
            </a:avLst>
          </a:prstGeom>
          <a:solidFill>
            <a:srgbClr val="26375C"/>
          </a:solidFill>
          <a:ln/>
        </p:spPr>
        <p:txBody>
          <a:bodyPr/>
          <a:lstStyle/>
          <a:p>
            <a:endParaRPr lang="ko-KR" altLang="en-US"/>
          </a:p>
        </p:txBody>
      </p:sp>
      <p:sp>
        <p:nvSpPr>
          <p:cNvPr id="10" name="Text 8"/>
          <p:cNvSpPr/>
          <p:nvPr/>
        </p:nvSpPr>
        <p:spPr>
          <a:xfrm>
            <a:off x="2532888" y="3749040"/>
            <a:ext cx="2185416" cy="548640"/>
          </a:xfrm>
          <a:prstGeom prst="rect">
            <a:avLst/>
          </a:prstGeom>
          <a:noFill/>
          <a:ln/>
        </p:spPr>
        <p:txBody>
          <a:bodyPr wrap="square" lIns="0" tIns="0" rIns="0" bIns="0" rtlCol="0" anchor="ctr"/>
          <a:lstStyle/>
          <a:p>
            <a:pPr marL="0" indent="0" algn="ctr">
              <a:buNone/>
            </a:pPr>
            <a:r>
              <a:rPr lang="en-US" sz="1400" b="1" dirty="0" err="1">
                <a:solidFill>
                  <a:srgbClr val="FFFFFF"/>
                </a:solidFill>
                <a:latin typeface="Calibri" pitchFamily="34" charset="0"/>
                <a:ea typeface="Calibri" pitchFamily="34" charset="-122"/>
                <a:cs typeface="Calibri" pitchFamily="34" charset="-120"/>
              </a:rPr>
              <a:t>멀티모듈</a:t>
            </a:r>
            <a:endParaRPr lang="en-US" sz="1400" dirty="0"/>
          </a:p>
        </p:txBody>
      </p:sp>
      <p:sp>
        <p:nvSpPr>
          <p:cNvPr id="11" name="Shape 9"/>
          <p:cNvSpPr/>
          <p:nvPr/>
        </p:nvSpPr>
        <p:spPr>
          <a:xfrm>
            <a:off x="5038344" y="3749040"/>
            <a:ext cx="2395728" cy="548640"/>
          </a:xfrm>
          <a:prstGeom prst="roundRect">
            <a:avLst>
              <a:gd name="adj" fmla="val 50000"/>
            </a:avLst>
          </a:prstGeom>
          <a:solidFill>
            <a:srgbClr val="26375C"/>
          </a:solidFill>
          <a:ln/>
        </p:spPr>
        <p:txBody>
          <a:bodyPr/>
          <a:lstStyle/>
          <a:p>
            <a:endParaRPr lang="ko-KR" altLang="en-US" dirty="0"/>
          </a:p>
        </p:txBody>
      </p:sp>
      <p:sp>
        <p:nvSpPr>
          <p:cNvPr id="12" name="Text 10"/>
          <p:cNvSpPr/>
          <p:nvPr/>
        </p:nvSpPr>
        <p:spPr>
          <a:xfrm>
            <a:off x="5038344" y="3749040"/>
            <a:ext cx="2395728" cy="548640"/>
          </a:xfrm>
          <a:prstGeom prst="rect">
            <a:avLst/>
          </a:prstGeom>
          <a:noFill/>
          <a:ln/>
        </p:spPr>
        <p:txBody>
          <a:bodyPr wrap="square" lIns="0" tIns="0" rIns="0" bIns="0" rtlCol="0" anchor="ctr"/>
          <a:lstStyle/>
          <a:p>
            <a:pPr marL="0" indent="0" algn="ctr">
              <a:buNone/>
            </a:pPr>
            <a:r>
              <a:rPr lang="en-US" sz="1400" b="1" dirty="0" err="1">
                <a:solidFill>
                  <a:srgbClr val="FFFFFF"/>
                </a:solidFill>
                <a:latin typeface="Calibri" pitchFamily="34" charset="0"/>
                <a:ea typeface="Calibri" pitchFamily="34" charset="-122"/>
                <a:cs typeface="Calibri" pitchFamily="34" charset="-120"/>
              </a:rPr>
              <a:t>개선</a:t>
            </a:r>
            <a:r>
              <a:rPr lang="en-US" sz="1400" b="1" dirty="0">
                <a:solidFill>
                  <a:srgbClr val="FFFFFF"/>
                </a:solidFill>
                <a:latin typeface="Calibri" pitchFamily="34" charset="0"/>
                <a:ea typeface="Calibri" pitchFamily="34" charset="-122"/>
                <a:cs typeface="Calibri" pitchFamily="34" charset="-120"/>
              </a:rPr>
              <a:t> </a:t>
            </a:r>
            <a:r>
              <a:rPr lang="en-US" sz="1400" b="1" dirty="0" err="1">
                <a:solidFill>
                  <a:srgbClr val="FFFFFF"/>
                </a:solidFill>
                <a:latin typeface="Calibri" pitchFamily="34" charset="0"/>
                <a:ea typeface="Calibri" pitchFamily="34" charset="-122"/>
                <a:cs typeface="Calibri" pitchFamily="34" charset="-120"/>
              </a:rPr>
              <a:t>기능</a:t>
            </a:r>
            <a:endParaRPr lang="en-US" sz="1400" dirty="0"/>
          </a:p>
        </p:txBody>
      </p:sp>
      <p:sp>
        <p:nvSpPr>
          <p:cNvPr id="13" name="Shape 11"/>
          <p:cNvSpPr/>
          <p:nvPr/>
        </p:nvSpPr>
        <p:spPr>
          <a:xfrm>
            <a:off x="868680" y="4892040"/>
            <a:ext cx="2011680" cy="0"/>
          </a:xfrm>
          <a:prstGeom prst="line">
            <a:avLst/>
          </a:prstGeom>
          <a:noFill/>
          <a:ln w="31750">
            <a:solidFill>
              <a:srgbClr val="FF6B6B"/>
            </a:solidFill>
            <a:prstDash val="solid"/>
          </a:ln>
        </p:spPr>
        <p:txBody>
          <a:bodyPr/>
          <a:lstStyle/>
          <a:p>
            <a:endParaRPr lang="ko-KR" altLang="en-US"/>
          </a:p>
        </p:txBody>
      </p:sp>
      <p:sp>
        <p:nvSpPr>
          <p:cNvPr id="14" name="Text 12"/>
          <p:cNvSpPr/>
          <p:nvPr/>
        </p:nvSpPr>
        <p:spPr>
          <a:xfrm>
            <a:off x="822960" y="5074920"/>
            <a:ext cx="7315200" cy="640080"/>
          </a:xfrm>
          <a:prstGeom prst="rect">
            <a:avLst/>
          </a:prstGeom>
          <a:noFill/>
          <a:ln/>
        </p:spPr>
        <p:txBody>
          <a:bodyPr wrap="square" lIns="0" tIns="0" rIns="0" bIns="0" rtlCol="0" anchor="ctr"/>
          <a:lstStyle/>
          <a:p>
            <a:pPr marL="0" indent="0">
              <a:buNone/>
            </a:pPr>
            <a:r>
              <a:rPr lang="en-US" sz="2600" b="1" dirty="0">
                <a:solidFill>
                  <a:srgbClr val="FFFFFF"/>
                </a:solidFill>
                <a:latin typeface="Bookman Old Style" pitchFamily="34" charset="0"/>
                <a:ea typeface="Bookman Old Style" pitchFamily="34" charset="-122"/>
                <a:cs typeface="Bookman Old Style" pitchFamily="34" charset="-120"/>
              </a:rPr>
              <a:t>감사합니다</a:t>
            </a:r>
            <a:endParaRPr lang="en-US" sz="2600" dirty="0"/>
          </a:p>
        </p:txBody>
      </p:sp>
      <p:sp>
        <p:nvSpPr>
          <p:cNvPr id="15" name="Text 13"/>
          <p:cNvSpPr/>
          <p:nvPr/>
        </p:nvSpPr>
        <p:spPr>
          <a:xfrm>
            <a:off x="822960" y="5806440"/>
            <a:ext cx="7315200" cy="365760"/>
          </a:xfrm>
          <a:prstGeom prst="rect">
            <a:avLst/>
          </a:prstGeom>
          <a:noFill/>
          <a:ln/>
        </p:spPr>
        <p:txBody>
          <a:bodyPr wrap="square" lIns="0" tIns="0" rIns="0" bIns="0" rtlCol="0" anchor="ctr"/>
          <a:lstStyle/>
          <a:p>
            <a:pPr marL="0" indent="0">
              <a:buNone/>
            </a:pPr>
            <a:r>
              <a:rPr lang="en-US" sz="1400" dirty="0">
                <a:solidFill>
                  <a:srgbClr val="CFE0FF"/>
                </a:solidFill>
                <a:latin typeface="Calibri" pitchFamily="34" charset="0"/>
                <a:ea typeface="Calibri" pitchFamily="34" charset="-122"/>
                <a:cs typeface="Calibri" pitchFamily="34" charset="-120"/>
              </a:rPr>
              <a:t>20210514  정성훈</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513</Words>
  <Application>Microsoft Office PowerPoint</Application>
  <PresentationFormat>와이드스크린</PresentationFormat>
  <Paragraphs>69</Paragraphs>
  <Slides>5</Slides>
  <Notes>5</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5</vt:i4>
      </vt:variant>
    </vt:vector>
  </HeadingPairs>
  <TitlesOfParts>
    <vt:vector size="9" baseType="lpstr">
      <vt:lpstr>Arial</vt:lpstr>
      <vt:lpstr>Bookman Old Style</vt:lpstr>
      <vt:lpstr>Calibri</vt:lpstr>
      <vt:lpstr>Office Theme</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무신사 벤치마킹 멀티모듈 커머스 앱</dc:title>
  <dc:subject>PptxGenJS Presentation</dc:subject>
  <dc:creator>정성훈</dc:creator>
  <cp:lastModifiedBy>정성훈</cp:lastModifiedBy>
  <cp:revision>2</cp:revision>
  <dcterms:created xsi:type="dcterms:W3CDTF">2026-07-06T06:36:15Z</dcterms:created>
  <dcterms:modified xsi:type="dcterms:W3CDTF">2026-07-06T06:51:08Z</dcterms:modified>
</cp:coreProperties>
</file>